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354" r:id="rId5"/>
    <p:sldId id="802" r:id="rId6"/>
    <p:sldId id="2182" r:id="rId7"/>
    <p:sldId id="2178" r:id="rId8"/>
    <p:sldId id="2177" r:id="rId9"/>
    <p:sldId id="2180" r:id="rId10"/>
    <p:sldId id="2181" r:id="rId11"/>
    <p:sldId id="284" r:id="rId12"/>
  </p:sldIdLst>
  <p:sldSz cx="12193588" cy="6858000"/>
  <p:notesSz cx="7315200" cy="9601200"/>
  <p:defaultTextStyle>
    <a:defPPr>
      <a:defRPr lang="en-US"/>
    </a:defPPr>
    <a:lvl1pPr marL="0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1pPr>
    <a:lvl2pPr marL="428546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2pPr>
    <a:lvl3pPr marL="857095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3pPr>
    <a:lvl4pPr marL="1285641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4pPr>
    <a:lvl5pPr marL="1714188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5pPr>
    <a:lvl6pPr marL="2142734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6pPr>
    <a:lvl7pPr marL="2571282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7pPr>
    <a:lvl8pPr marL="2999829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8pPr>
    <a:lvl9pPr marL="3428376" algn="l" defTabSz="428546" rtl="0" eaLnBrk="1" latinLnBrk="0" hangingPunct="1">
      <a:defRPr sz="168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2C360E-1E4A-534D-CA91-D3D940509EA4}" name="Madalena Figueiredo" initials="MF" userId="S::mfigueiredo@grupoyour.pt::4b4e129e-315b-4f3c-bee6-c5f83ad2437c" providerId="AD"/>
  <p188:author id="{598C07D8-DA7D-9B44-E471-6963F3BA999E}" name="Laetitia Mateus" initials="LM" userId="Laetitia Mateu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945"/>
    <a:srgbClr val="E60F78"/>
    <a:srgbClr val="000000"/>
    <a:srgbClr val="3DAE2B"/>
    <a:srgbClr val="009C5C"/>
    <a:srgbClr val="FAFAFA"/>
    <a:srgbClr val="C50F68"/>
    <a:srgbClr val="F0F0F0"/>
    <a:srgbClr val="878787"/>
    <a:srgbClr val="03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0093" autoAdjust="0"/>
  </p:normalViewPr>
  <p:slideViewPr>
    <p:cSldViewPr snapToGrid="0">
      <p:cViewPr>
        <p:scale>
          <a:sx n="120" d="100"/>
          <a:sy n="120" d="100"/>
        </p:scale>
        <p:origin x="114" y="-108"/>
      </p:cViewPr>
      <p:guideLst>
        <p:guide orient="horz" pos="2160"/>
        <p:guide pos="3840"/>
      </p:guideLst>
    </p:cSldViewPr>
  </p:slid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100" d="100"/>
        <a:sy n="100" d="100"/>
      </p:scale>
      <p:origin x="0" y="-7459"/>
    </p:cViewPr>
  </p:sorterViewPr>
  <p:notesViewPr>
    <p:cSldViewPr snapToGrid="0">
      <p:cViewPr varScale="1">
        <p:scale>
          <a:sx n="75" d="100"/>
          <a:sy n="75" d="100"/>
        </p:scale>
        <p:origin x="4032" y="7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60418697-AD3B-44E7-BF00-8D967F8CA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l">
              <a:defRPr sz="1300"/>
            </a:lvl1pPr>
          </a:lstStyle>
          <a:p>
            <a:endParaRPr lang="pt-PT" dirty="0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B80823E-06AD-4419-BA95-621295C136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8" y="1"/>
            <a:ext cx="3169920" cy="481727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r">
              <a:defRPr sz="1300"/>
            </a:lvl1pPr>
          </a:lstStyle>
          <a:p>
            <a:fld id="{C2158F62-548A-4382-AD32-8F425ECA8328}" type="datetimeFigureOut">
              <a:rPr lang="pt-PT" smtClean="0"/>
              <a:t>22-09-2026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C39CE2B-58FA-47B0-91E0-B2090BF4B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l">
              <a:defRPr sz="1300"/>
            </a:lvl1pPr>
          </a:lstStyle>
          <a:p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6AC5BAE-B6B6-403F-9443-AFBE2589C6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r">
              <a:defRPr sz="1300"/>
            </a:lvl1pPr>
          </a:lstStyle>
          <a:p>
            <a:fld id="{104F4B72-B701-47C5-ADBB-DB110E8F4589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449840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l">
              <a:defRPr sz="13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1727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r">
              <a:defRPr sz="1300"/>
            </a:lvl1pPr>
          </a:lstStyle>
          <a:p>
            <a:fld id="{9A875E86-9BDC-43FE-9AFD-DA4564E81DA6}" type="datetimeFigureOut">
              <a:rPr lang="pt-PT" smtClean="0"/>
              <a:t>22-09-2026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61038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88" tIns="47794" rIns="95588" bIns="47794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5588" tIns="47794" rIns="95588" bIns="47794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l">
              <a:defRPr sz="13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r">
              <a:defRPr sz="1300"/>
            </a:lvl1pPr>
          </a:lstStyle>
          <a:p>
            <a:fld id="{D645B592-8806-4B95-BE51-56800D24A9A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027297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8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1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96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70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43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18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91" algn="l" defTabSz="9143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5B592-8806-4B95-BE51-56800D24A9A2}" type="slidenum">
              <a:rPr lang="pt-PT" smtClean="0"/>
              <a:t>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41289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m logótipo, captura de ecrã, Gráficos, design&#10;&#10;Descrição gerada automaticamente">
            <a:extLst>
              <a:ext uri="{FF2B5EF4-FFF2-40B4-BE49-F238E27FC236}">
                <a16:creationId xmlns:a16="http://schemas.microsoft.com/office/drawing/2014/main" id="{B036E3B4-0A9A-D180-E67B-6672503A6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675" y="-85725"/>
            <a:ext cx="12260263" cy="7019925"/>
          </a:xfrm>
          <a:prstGeom prst="rect">
            <a:avLst/>
          </a:prstGeom>
        </p:spPr>
      </p:pic>
      <p:sp>
        <p:nvSpPr>
          <p:cNvPr id="12" name="Marcador de Posição do Texto 10">
            <a:extLst>
              <a:ext uri="{FF2B5EF4-FFF2-40B4-BE49-F238E27FC236}">
                <a16:creationId xmlns:a16="http://schemas.microsoft.com/office/drawing/2014/main" id="{620E9007-862A-4E4E-808D-53FFACB9C8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886" y="907079"/>
            <a:ext cx="3890217" cy="8227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28585" indent="0">
              <a:buNone/>
              <a:defRPr sz="2160">
                <a:solidFill>
                  <a:schemeClr val="tx2"/>
                </a:solidFill>
                <a:latin typeface="+mj-lt"/>
              </a:defRPr>
            </a:lvl2pPr>
            <a:lvl3pPr marL="857169" indent="0">
              <a:buNone/>
              <a:defRPr sz="2160">
                <a:solidFill>
                  <a:schemeClr val="tx2"/>
                </a:solidFill>
                <a:latin typeface="+mj-lt"/>
              </a:defRPr>
            </a:lvl3pPr>
            <a:lvl4pPr marL="1285754" indent="0">
              <a:buNone/>
              <a:defRPr sz="2160">
                <a:solidFill>
                  <a:schemeClr val="tx2"/>
                </a:solidFill>
                <a:latin typeface="+mj-lt"/>
              </a:defRPr>
            </a:lvl4pPr>
            <a:lvl5pPr marL="1714339" indent="0">
              <a:buNone/>
              <a:defRPr sz="216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pt-PT" dirty="0" err="1"/>
              <a:t>Cofomark</a:t>
            </a:r>
            <a:endParaRPr lang="pt-PT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AC7D38-054C-D73C-439B-3FEE6269466D}"/>
              </a:ext>
            </a:extLst>
          </p:cNvPr>
          <p:cNvSpPr txBox="1"/>
          <p:nvPr userDrawn="1"/>
        </p:nvSpPr>
        <p:spPr>
          <a:xfrm>
            <a:off x="276225" y="257175"/>
            <a:ext cx="6305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solidFill>
                  <a:schemeClr val="bg1"/>
                </a:solidFill>
                <a:latin typeface="Bahnschrift" panose="020B0502040204020203" pitchFamily="34" charset="0"/>
              </a:rPr>
              <a:t>Contabilidade dedicada</a:t>
            </a:r>
            <a:br>
              <a:rPr lang="pt-PT" sz="40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pt-PT" sz="4000" dirty="0">
                <a:solidFill>
                  <a:schemeClr val="bg1"/>
                </a:solidFill>
                <a:latin typeface="Bahnschrift" panose="020B0502040204020203" pitchFamily="34" charset="0"/>
              </a:rPr>
              <a:t>a proteger os seus interesses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405245-7D6B-BFF4-4CA0-2358C460C198}"/>
              </a:ext>
            </a:extLst>
          </p:cNvPr>
          <p:cNvSpPr txBox="1"/>
          <p:nvPr userDrawn="1"/>
        </p:nvSpPr>
        <p:spPr>
          <a:xfrm>
            <a:off x="276225" y="2600325"/>
            <a:ext cx="5448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bg1"/>
                </a:solidFill>
                <a:latin typeface="Bahnschrift" panose="020B0502040204020203" pitchFamily="34" charset="0"/>
              </a:rPr>
              <a:t>O nosso objetivo é estabelecer relações de transparência com os nossos clientes, assegurar eficácia nos métodos de trabalho aplicados e, acima de tudo, construir relações de reciprocidade que permitam aos negócios atingir o seu pleno potencial.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541C1D-6199-1235-4BF3-35B2F911C76A}"/>
              </a:ext>
            </a:extLst>
          </p:cNvPr>
          <p:cNvSpPr txBox="1"/>
          <p:nvPr userDrawn="1"/>
        </p:nvSpPr>
        <p:spPr>
          <a:xfrm>
            <a:off x="276225" y="6315075"/>
            <a:ext cx="20669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CS </a:t>
            </a:r>
            <a:r>
              <a:rPr lang="pt-PT" sz="9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Consulting</a:t>
            </a:r>
            <a:b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Alameda António Sérgio, 7, 2ºG</a:t>
            </a:r>
            <a:b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2795-023 Linda-a-Velha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C7E158-2157-B505-3A49-B9DE613DB263}"/>
              </a:ext>
            </a:extLst>
          </p:cNvPr>
          <p:cNvSpPr txBox="1"/>
          <p:nvPr userDrawn="1"/>
        </p:nvSpPr>
        <p:spPr>
          <a:xfrm>
            <a:off x="2476500" y="6315075"/>
            <a:ext cx="20669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(+351) 928 166 443</a:t>
            </a:r>
            <a:b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(+351) 928 162 413</a:t>
            </a:r>
            <a:b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geral@cs-consulting.pt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C5CB83-242E-4C29-8CF0-98BEA6C41D95}"/>
              </a:ext>
            </a:extLst>
          </p:cNvPr>
          <p:cNvSpPr txBox="1"/>
          <p:nvPr userDrawn="1"/>
        </p:nvSpPr>
        <p:spPr>
          <a:xfrm>
            <a:off x="4400550" y="6315075"/>
            <a:ext cx="20669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b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pt-PT" sz="900" dirty="0">
                <a:solidFill>
                  <a:schemeClr val="bg1"/>
                </a:solidFill>
                <a:latin typeface="Bahnschrift" panose="020B0502040204020203" pitchFamily="34" charset="0"/>
              </a:rPr>
              <a:t>www.cs-consulting.pt</a:t>
            </a:r>
          </a:p>
        </p:txBody>
      </p:sp>
      <p:pic>
        <p:nvPicPr>
          <p:cNvPr id="14" name="Imagem 13" descr="Uma imagem com Tipo de letra, Gráficos, captura de ecrã, logótipo&#10;&#10;Descrição gerada automaticamente">
            <a:extLst>
              <a:ext uri="{FF2B5EF4-FFF2-40B4-BE49-F238E27FC236}">
                <a16:creationId xmlns:a16="http://schemas.microsoft.com/office/drawing/2014/main" id="{8780CF95-4D78-2CBC-847A-A9EBFBA9C4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5" t="31807" r="13394" b="32570"/>
          <a:stretch/>
        </p:blipFill>
        <p:spPr bwMode="auto">
          <a:xfrm>
            <a:off x="7782811" y="5950921"/>
            <a:ext cx="4308021" cy="8719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456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_texto_3_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D5BEBA1-2D7D-4FB4-91CE-8774E7C931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067" y="2148262"/>
            <a:ext cx="11021241" cy="3453203"/>
          </a:xfrm>
          <a:prstGeom prst="rect">
            <a:avLst/>
          </a:prstGeom>
          <a:noFill/>
        </p:spPr>
        <p:txBody>
          <a:bodyPr lIns="0" tIns="0" rIns="0" bIns="0" numCol="3" spcCol="255600"/>
          <a:lstStyle>
            <a:lvl1pPr marL="0" indent="0">
              <a:lnSpc>
                <a:spcPts val="1530"/>
              </a:lnSpc>
              <a:spcBef>
                <a:spcPts val="1440"/>
              </a:spcBef>
              <a:buNone/>
              <a:defRPr sz="1080"/>
            </a:lvl1pPr>
            <a:lvl2pPr marL="411389" indent="0">
              <a:buNone/>
              <a:defRPr/>
            </a:lvl2pPr>
            <a:lvl3pPr marL="822777" indent="0">
              <a:buNone/>
              <a:defRPr/>
            </a:lvl3pPr>
            <a:lvl4pPr marL="1234166" indent="0">
              <a:buNone/>
              <a:defRPr/>
            </a:lvl4pPr>
            <a:lvl5pPr marL="1645554" indent="0">
              <a:buNone/>
              <a:defRPr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Posição do Número do Diapositivo 12">
            <a:extLst>
              <a:ext uri="{FF2B5EF4-FFF2-40B4-BE49-F238E27FC236}">
                <a16:creationId xmlns:a16="http://schemas.microsoft.com/office/drawing/2014/main" id="{4DC487D5-36F2-4C2E-8C93-9B6BDB2D5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7141BCA9-F268-4B0C-86E7-695CAEF410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067" y="1313987"/>
            <a:ext cx="6264824" cy="3642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160">
                <a:solidFill>
                  <a:srgbClr val="202945"/>
                </a:solidFill>
                <a:latin typeface="+mj-lt"/>
              </a:defRPr>
            </a:lvl1pPr>
            <a:lvl2pPr marL="411389" indent="0">
              <a:buNone/>
              <a:defRPr sz="1800">
                <a:solidFill>
                  <a:schemeClr val="accent1"/>
                </a:solidFill>
                <a:latin typeface="+mj-lt"/>
              </a:defRPr>
            </a:lvl2pPr>
            <a:lvl3pPr marL="822777" indent="0">
              <a:buNone/>
              <a:defRPr sz="1800">
                <a:solidFill>
                  <a:schemeClr val="accent1"/>
                </a:solidFill>
                <a:latin typeface="+mj-lt"/>
              </a:defRPr>
            </a:lvl3pPr>
            <a:lvl4pPr marL="1234166" indent="0">
              <a:buNone/>
              <a:defRPr sz="1800">
                <a:solidFill>
                  <a:schemeClr val="accent1"/>
                </a:solidFill>
                <a:latin typeface="+mj-lt"/>
              </a:defRPr>
            </a:lvl4pPr>
            <a:lvl5pPr marL="1645554" indent="0">
              <a:buNone/>
              <a:defRPr sz="18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78474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_texto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D5BEBA1-2D7D-4FB4-91CE-8774E7C931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068" y="2148262"/>
            <a:ext cx="4043131" cy="3447531"/>
          </a:xfrm>
          <a:prstGeom prst="rect">
            <a:avLst/>
          </a:prstGeom>
          <a:noFill/>
        </p:spPr>
        <p:txBody>
          <a:bodyPr lIns="0" tIns="0" rIns="0" bIns="0" numCol="1" spcCol="255600"/>
          <a:lstStyle>
            <a:lvl1pPr marL="0" indent="0">
              <a:lnSpc>
                <a:spcPts val="1530"/>
              </a:lnSpc>
              <a:spcBef>
                <a:spcPts val="1440"/>
              </a:spcBef>
              <a:buNone/>
              <a:defRPr sz="1080"/>
            </a:lvl1pPr>
            <a:lvl2pPr marL="411389" indent="0">
              <a:buNone/>
              <a:defRPr/>
            </a:lvl2pPr>
            <a:lvl3pPr marL="822777" indent="0">
              <a:buNone/>
              <a:defRPr/>
            </a:lvl3pPr>
            <a:lvl4pPr marL="1234166" indent="0">
              <a:buNone/>
              <a:defRPr/>
            </a:lvl4pPr>
            <a:lvl5pPr marL="1645554" indent="0"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Marcador de Posição do Gráfico 7">
            <a:extLst>
              <a:ext uri="{FF2B5EF4-FFF2-40B4-BE49-F238E27FC236}">
                <a16:creationId xmlns:a16="http://schemas.microsoft.com/office/drawing/2014/main" id="{1B348BF0-68B4-4596-936B-B7D64BB440D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94909" y="2148261"/>
            <a:ext cx="5674782" cy="3447530"/>
          </a:xfrm>
          <a:prstGeom prst="rect">
            <a:avLst/>
          </a:prstGeom>
        </p:spPr>
        <p:txBody>
          <a:bodyPr lIns="0" tIns="0" rIns="0" bIns="0"/>
          <a:lstStyle/>
          <a:p>
            <a:endParaRPr lang="pt-PT" dirty="0"/>
          </a:p>
        </p:txBody>
      </p:sp>
      <p:sp>
        <p:nvSpPr>
          <p:cNvPr id="6" name="Marcador de Posição do Número do Diapositivo 12">
            <a:extLst>
              <a:ext uri="{FF2B5EF4-FFF2-40B4-BE49-F238E27FC236}">
                <a16:creationId xmlns:a16="http://schemas.microsoft.com/office/drawing/2014/main" id="{2947989A-C01F-4C00-9263-9E56759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1D7C22C2-B650-4F4F-B1E4-46A707E8E9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067" y="1313987"/>
            <a:ext cx="6264824" cy="3642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160">
                <a:solidFill>
                  <a:srgbClr val="E60F78"/>
                </a:solidFill>
                <a:latin typeface="+mj-lt"/>
              </a:defRPr>
            </a:lvl1pPr>
            <a:lvl2pPr marL="411389" indent="0">
              <a:buNone/>
              <a:defRPr sz="1800">
                <a:solidFill>
                  <a:schemeClr val="accent1"/>
                </a:solidFill>
                <a:latin typeface="+mj-lt"/>
              </a:defRPr>
            </a:lvl2pPr>
            <a:lvl3pPr marL="822777" indent="0">
              <a:buNone/>
              <a:defRPr sz="1800">
                <a:solidFill>
                  <a:schemeClr val="accent1"/>
                </a:solidFill>
                <a:latin typeface="+mj-lt"/>
              </a:defRPr>
            </a:lvl3pPr>
            <a:lvl4pPr marL="1234166" indent="0">
              <a:buNone/>
              <a:defRPr sz="1800">
                <a:solidFill>
                  <a:schemeClr val="accent1"/>
                </a:solidFill>
                <a:latin typeface="+mj-lt"/>
              </a:defRPr>
            </a:lvl4pPr>
            <a:lvl5pPr marL="1645554" indent="0">
              <a:buNone/>
              <a:defRPr sz="18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2701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 de agradecimento_FX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o Número do Diapositivo 12">
            <a:extLst>
              <a:ext uri="{FF2B5EF4-FFF2-40B4-BE49-F238E27FC236}">
                <a16:creationId xmlns:a16="http://schemas.microsoft.com/office/drawing/2014/main" id="{0555DACB-70A1-4A4F-BBFE-7259F5662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cxnSp>
        <p:nvCxnSpPr>
          <p:cNvPr id="13" name="Conexão reta 8">
            <a:extLst>
              <a:ext uri="{FF2B5EF4-FFF2-40B4-BE49-F238E27FC236}">
                <a16:creationId xmlns:a16="http://schemas.microsoft.com/office/drawing/2014/main" id="{60A5F7B2-73B9-C94B-A3CD-C657D005CC0C}"/>
              </a:ext>
            </a:extLst>
          </p:cNvPr>
          <p:cNvCxnSpPr>
            <a:cxnSpLocks/>
          </p:cNvCxnSpPr>
          <p:nvPr userDrawn="1"/>
        </p:nvCxnSpPr>
        <p:spPr>
          <a:xfrm>
            <a:off x="3253497" y="3736095"/>
            <a:ext cx="123828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7">
            <a:extLst>
              <a:ext uri="{FF2B5EF4-FFF2-40B4-BE49-F238E27FC236}">
                <a16:creationId xmlns:a16="http://schemas.microsoft.com/office/drawing/2014/main" id="{DCF80403-1283-554A-9527-5C31D5BB1972}"/>
              </a:ext>
            </a:extLst>
          </p:cNvPr>
          <p:cNvSpPr txBox="1"/>
          <p:nvPr userDrawn="1"/>
        </p:nvSpPr>
        <p:spPr>
          <a:xfrm>
            <a:off x="3253497" y="3863820"/>
            <a:ext cx="1702800" cy="8617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CS </a:t>
            </a:r>
            <a:r>
              <a:rPr lang="pt-PT" sz="800" dirty="0" err="1">
                <a:solidFill>
                  <a:schemeClr val="tx2"/>
                </a:solidFill>
                <a:latin typeface="Campton Med" pitchFamily="50" charset="0"/>
              </a:rPr>
              <a:t>Consulting</a:t>
            </a:r>
            <a:endParaRPr lang="pt-PT" sz="800" dirty="0">
              <a:solidFill>
                <a:schemeClr val="tx2"/>
              </a:solidFill>
              <a:latin typeface="Campton Med" pitchFamily="50" charset="0"/>
            </a:endParaRPr>
          </a:p>
          <a:p>
            <a:pPr>
              <a:lnSpc>
                <a:spcPts val="1300"/>
              </a:lnSpc>
              <a:spcBef>
                <a:spcPts val="800"/>
              </a:spcBef>
            </a:pPr>
            <a:br>
              <a:rPr lang="pt-PT" sz="800" dirty="0">
                <a:solidFill>
                  <a:schemeClr val="tx2"/>
                </a:solidFill>
                <a:latin typeface="+mn-lt"/>
              </a:rPr>
            </a:br>
            <a:r>
              <a:rPr lang="pt-PT" sz="800" u="none" dirty="0">
                <a:solidFill>
                  <a:schemeClr val="tx2"/>
                </a:solidFill>
                <a:latin typeface="+mn-lt"/>
              </a:rPr>
              <a:t>geral@cs-consulting.pt</a:t>
            </a:r>
            <a:br>
              <a:rPr lang="pt-PT" sz="800" u="none" dirty="0">
                <a:solidFill>
                  <a:schemeClr val="tx2"/>
                </a:solidFill>
                <a:latin typeface="+mn-lt"/>
              </a:rPr>
            </a:br>
            <a:r>
              <a:rPr lang="pt-PT" sz="800" dirty="0">
                <a:solidFill>
                  <a:schemeClr val="tx2"/>
                </a:solidFill>
                <a:latin typeface="+mn-lt"/>
              </a:rPr>
              <a:t>www.cs-consulting.pt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F0DF2E40-45E9-F14A-A894-0E542718ADFD}"/>
              </a:ext>
            </a:extLst>
          </p:cNvPr>
          <p:cNvSpPr txBox="1"/>
          <p:nvPr userDrawn="1"/>
        </p:nvSpPr>
        <p:spPr>
          <a:xfrm>
            <a:off x="4752192" y="3863820"/>
            <a:ext cx="1702800" cy="8617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Rúben Cruz</a:t>
            </a:r>
            <a:br>
              <a:rPr lang="pt-PT" sz="800" dirty="0">
                <a:solidFill>
                  <a:schemeClr val="tx2"/>
                </a:solidFill>
                <a:latin typeface="Campton Med" pitchFamily="50" charset="0"/>
              </a:rPr>
            </a:b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CO-CEO</a:t>
            </a:r>
          </a:p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+mn-lt"/>
              </a:rPr>
              <a:t>(+351) 928 166 443</a:t>
            </a:r>
            <a:br>
              <a:rPr lang="pt-PT" sz="800" dirty="0">
                <a:solidFill>
                  <a:schemeClr val="tx2"/>
                </a:solidFill>
                <a:latin typeface="+mn-lt"/>
              </a:rPr>
            </a:br>
            <a:r>
              <a:rPr lang="pt-PT" sz="800" u="none" dirty="0">
                <a:solidFill>
                  <a:schemeClr val="tx2"/>
                </a:solidFill>
                <a:latin typeface="+mn-lt"/>
              </a:rPr>
              <a:t>Ruben.Cruz@cs-consulting.pt</a:t>
            </a:r>
            <a:endParaRPr lang="pt-PT" sz="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CaixaDeTexto 3">
            <a:extLst>
              <a:ext uri="{FF2B5EF4-FFF2-40B4-BE49-F238E27FC236}">
                <a16:creationId xmlns:a16="http://schemas.microsoft.com/office/drawing/2014/main" id="{26FF4A50-9EB8-6F40-B659-222E4D5039BE}"/>
              </a:ext>
            </a:extLst>
          </p:cNvPr>
          <p:cNvSpPr txBox="1"/>
          <p:nvPr userDrawn="1"/>
        </p:nvSpPr>
        <p:spPr>
          <a:xfrm>
            <a:off x="3253497" y="2048865"/>
            <a:ext cx="2056782" cy="76944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pt-PT" sz="4400" kern="1200" spc="-150" dirty="0">
                <a:solidFill>
                  <a:srgbClr val="202945"/>
                </a:solidFill>
                <a:latin typeface="+mj-lt"/>
                <a:ea typeface="+mn-ea"/>
                <a:cs typeface="+mn-cs"/>
              </a:rPr>
              <a:t>Obrigado</a:t>
            </a:r>
          </a:p>
        </p:txBody>
      </p:sp>
      <p:sp>
        <p:nvSpPr>
          <p:cNvPr id="19" name="CaixaDeTexto 13">
            <a:extLst>
              <a:ext uri="{FF2B5EF4-FFF2-40B4-BE49-F238E27FC236}">
                <a16:creationId xmlns:a16="http://schemas.microsoft.com/office/drawing/2014/main" id="{D5F01610-79BA-9C42-A083-0E856C067713}"/>
              </a:ext>
            </a:extLst>
          </p:cNvPr>
          <p:cNvSpPr txBox="1"/>
          <p:nvPr userDrawn="1"/>
        </p:nvSpPr>
        <p:spPr>
          <a:xfrm>
            <a:off x="3253497" y="3062986"/>
            <a:ext cx="2497094" cy="3139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PT" sz="1600" kern="1200" dirty="0">
                <a:solidFill>
                  <a:schemeClr val="tx2"/>
                </a:solidFill>
                <a:latin typeface="Campton" pitchFamily="50" charset="0"/>
                <a:ea typeface="+mn-ea"/>
                <a:cs typeface="+mn-cs"/>
              </a:rPr>
              <a:t>Muito prazer em conhecê-lo.</a:t>
            </a:r>
          </a:p>
        </p:txBody>
      </p:sp>
      <p:cxnSp>
        <p:nvCxnSpPr>
          <p:cNvPr id="22" name="Conexão reta 8">
            <a:extLst>
              <a:ext uri="{FF2B5EF4-FFF2-40B4-BE49-F238E27FC236}">
                <a16:creationId xmlns:a16="http://schemas.microsoft.com/office/drawing/2014/main" id="{90591854-4F82-CB46-AA61-A83A2D93793D}"/>
              </a:ext>
            </a:extLst>
          </p:cNvPr>
          <p:cNvCxnSpPr>
            <a:cxnSpLocks/>
          </p:cNvCxnSpPr>
          <p:nvPr userDrawn="1"/>
        </p:nvCxnSpPr>
        <p:spPr>
          <a:xfrm>
            <a:off x="4767002" y="3736095"/>
            <a:ext cx="289418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0">
            <a:extLst>
              <a:ext uri="{FF2B5EF4-FFF2-40B4-BE49-F238E27FC236}">
                <a16:creationId xmlns:a16="http://schemas.microsoft.com/office/drawing/2014/main" id="{F4AA7B7C-28B7-9560-D70D-53C4917FD5AE}"/>
              </a:ext>
            </a:extLst>
          </p:cNvPr>
          <p:cNvSpPr txBox="1"/>
          <p:nvPr userDrawn="1"/>
        </p:nvSpPr>
        <p:spPr>
          <a:xfrm>
            <a:off x="6333342" y="3863820"/>
            <a:ext cx="1702800" cy="8617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Tiago Domingues</a:t>
            </a:r>
            <a:br>
              <a:rPr lang="pt-PT" sz="800" dirty="0">
                <a:solidFill>
                  <a:schemeClr val="tx2"/>
                </a:solidFill>
                <a:latin typeface="Campton Med" pitchFamily="50" charset="0"/>
              </a:rPr>
            </a:b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CO-CEO</a:t>
            </a:r>
          </a:p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+mn-lt"/>
              </a:rPr>
              <a:t>(+351) 928 162 413</a:t>
            </a:r>
            <a:br>
              <a:rPr lang="pt-PT" sz="800" dirty="0">
                <a:solidFill>
                  <a:schemeClr val="tx2"/>
                </a:solidFill>
                <a:latin typeface="+mn-lt"/>
              </a:rPr>
            </a:br>
            <a:r>
              <a:rPr lang="pt-PT" sz="800" u="none" dirty="0">
                <a:solidFill>
                  <a:schemeClr val="tx2"/>
                </a:solidFill>
                <a:latin typeface="+mn-lt"/>
              </a:rPr>
              <a:t>Tiago.Domingues@cs-consulting.pt</a:t>
            </a:r>
            <a:endParaRPr lang="pt-PT" sz="8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42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ágina_texto_2_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DAF3A29-4514-48D0-97C5-C2B7BD29A24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067" y="1313986"/>
            <a:ext cx="6264824" cy="3642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160">
                <a:solidFill>
                  <a:srgbClr val="E60F78"/>
                </a:solidFill>
                <a:latin typeface="+mj-lt"/>
              </a:defRPr>
            </a:lvl1pPr>
            <a:lvl2pPr marL="411389" indent="0">
              <a:buNone/>
              <a:defRPr sz="1800">
                <a:solidFill>
                  <a:schemeClr val="accent1"/>
                </a:solidFill>
                <a:latin typeface="+mj-lt"/>
              </a:defRPr>
            </a:lvl2pPr>
            <a:lvl3pPr marL="822777" indent="0">
              <a:buNone/>
              <a:defRPr sz="1800">
                <a:solidFill>
                  <a:schemeClr val="accent1"/>
                </a:solidFill>
                <a:latin typeface="+mj-lt"/>
              </a:defRPr>
            </a:lvl3pPr>
            <a:lvl4pPr marL="1234166" indent="0">
              <a:buNone/>
              <a:defRPr sz="1800">
                <a:solidFill>
                  <a:schemeClr val="accent1"/>
                </a:solidFill>
                <a:latin typeface="+mj-lt"/>
              </a:defRPr>
            </a:lvl4pPr>
            <a:lvl5pPr marL="1645554" indent="0">
              <a:buNone/>
              <a:defRPr sz="18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Posição do Número do Diapositivo 12">
            <a:extLst>
              <a:ext uri="{FF2B5EF4-FFF2-40B4-BE49-F238E27FC236}">
                <a16:creationId xmlns:a16="http://schemas.microsoft.com/office/drawing/2014/main" id="{F5BDA199-3650-4B8B-A3A7-7023865D8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1" name="Marcador de Posição do Texto 4">
            <a:extLst>
              <a:ext uri="{FF2B5EF4-FFF2-40B4-BE49-F238E27FC236}">
                <a16:creationId xmlns:a16="http://schemas.microsoft.com/office/drawing/2014/main" id="{DF2DFC25-220E-4E73-BE81-F21D816D0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067" y="2148261"/>
            <a:ext cx="11021241" cy="3453203"/>
          </a:xfrm>
          <a:prstGeom prst="rect">
            <a:avLst/>
          </a:prstGeom>
          <a:noFill/>
        </p:spPr>
        <p:txBody>
          <a:bodyPr lIns="0" tIns="0" rIns="0" bIns="0" numCol="2" spcCol="255600"/>
          <a:lstStyle>
            <a:lvl1pPr marL="0" indent="0">
              <a:lnSpc>
                <a:spcPts val="1530"/>
              </a:lnSpc>
              <a:spcBef>
                <a:spcPts val="1440"/>
              </a:spcBef>
              <a:buNone/>
              <a:defRPr sz="1080"/>
            </a:lvl1pPr>
            <a:lvl2pPr marL="411389" indent="0">
              <a:buNone/>
              <a:defRPr/>
            </a:lvl2pPr>
            <a:lvl3pPr marL="822777" indent="0">
              <a:buNone/>
              <a:defRPr/>
            </a:lvl3pPr>
            <a:lvl4pPr marL="1234166" indent="0">
              <a:buNone/>
              <a:defRPr/>
            </a:lvl4pPr>
            <a:lvl5pPr marL="1645554" indent="0">
              <a:buNone/>
              <a:defRPr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17693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EE7624-BA1A-C7B4-6E3D-DCFCEFD1E3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0"/>
            <a:ext cx="12192794" cy="6858447"/>
          </a:xfrm>
          <a:prstGeom prst="rect">
            <a:avLst/>
          </a:prstGeom>
        </p:spPr>
      </p:pic>
      <p:sp>
        <p:nvSpPr>
          <p:cNvPr id="12" name="Marcador de Posição do Texto 10">
            <a:extLst>
              <a:ext uri="{FF2B5EF4-FFF2-40B4-BE49-F238E27FC236}">
                <a16:creationId xmlns:a16="http://schemas.microsoft.com/office/drawing/2014/main" id="{620E9007-862A-4E4E-808D-53FFACB9C8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886" y="907079"/>
            <a:ext cx="3890217" cy="82278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160">
                <a:solidFill>
                  <a:schemeClr val="tx2"/>
                </a:solidFill>
                <a:latin typeface="+mj-lt"/>
              </a:defRPr>
            </a:lvl1pPr>
            <a:lvl2pPr marL="428585" indent="0">
              <a:buNone/>
              <a:defRPr sz="2160">
                <a:solidFill>
                  <a:schemeClr val="tx2"/>
                </a:solidFill>
                <a:latin typeface="+mj-lt"/>
              </a:defRPr>
            </a:lvl2pPr>
            <a:lvl3pPr marL="857169" indent="0">
              <a:buNone/>
              <a:defRPr sz="2160">
                <a:solidFill>
                  <a:schemeClr val="tx2"/>
                </a:solidFill>
                <a:latin typeface="+mj-lt"/>
              </a:defRPr>
            </a:lvl3pPr>
            <a:lvl4pPr marL="1285754" indent="0">
              <a:buNone/>
              <a:defRPr sz="2160">
                <a:solidFill>
                  <a:schemeClr val="tx2"/>
                </a:solidFill>
                <a:latin typeface="+mj-lt"/>
              </a:defRPr>
            </a:lvl4pPr>
            <a:lvl5pPr marL="1714339" indent="0">
              <a:buNone/>
              <a:defRPr sz="216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F303E-2CB6-BB43-927E-EF6FA280E5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5222" y="907079"/>
            <a:ext cx="10858797" cy="524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7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ágina_texto_2_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DAF3A29-4514-48D0-97C5-C2B7BD29A24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067" y="1313986"/>
            <a:ext cx="6264824" cy="3642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160">
                <a:solidFill>
                  <a:srgbClr val="E60F78"/>
                </a:solidFill>
                <a:latin typeface="+mj-lt"/>
              </a:defRPr>
            </a:lvl1pPr>
            <a:lvl2pPr marL="411389" indent="0">
              <a:buNone/>
              <a:defRPr sz="1800">
                <a:solidFill>
                  <a:schemeClr val="accent1"/>
                </a:solidFill>
                <a:latin typeface="+mj-lt"/>
              </a:defRPr>
            </a:lvl2pPr>
            <a:lvl3pPr marL="822777" indent="0">
              <a:buNone/>
              <a:defRPr sz="1800">
                <a:solidFill>
                  <a:schemeClr val="accent1"/>
                </a:solidFill>
                <a:latin typeface="+mj-lt"/>
              </a:defRPr>
            </a:lvl3pPr>
            <a:lvl4pPr marL="1234166" indent="0">
              <a:buNone/>
              <a:defRPr sz="1800">
                <a:solidFill>
                  <a:schemeClr val="accent1"/>
                </a:solidFill>
                <a:latin typeface="+mj-lt"/>
              </a:defRPr>
            </a:lvl4pPr>
            <a:lvl5pPr marL="1645554" indent="0">
              <a:buNone/>
              <a:defRPr sz="18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Posição do Número do Diapositivo 12">
            <a:extLst>
              <a:ext uri="{FF2B5EF4-FFF2-40B4-BE49-F238E27FC236}">
                <a16:creationId xmlns:a16="http://schemas.microsoft.com/office/drawing/2014/main" id="{F5BDA199-3650-4B8B-A3A7-7023865D8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1" name="Marcador de Posição do Texto 4">
            <a:extLst>
              <a:ext uri="{FF2B5EF4-FFF2-40B4-BE49-F238E27FC236}">
                <a16:creationId xmlns:a16="http://schemas.microsoft.com/office/drawing/2014/main" id="{DF2DFC25-220E-4E73-BE81-F21D816D0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067" y="2148261"/>
            <a:ext cx="11021241" cy="3453203"/>
          </a:xfrm>
          <a:prstGeom prst="rect">
            <a:avLst/>
          </a:prstGeom>
          <a:noFill/>
        </p:spPr>
        <p:txBody>
          <a:bodyPr lIns="0" tIns="0" rIns="0" bIns="0" numCol="2" spcCol="255600"/>
          <a:lstStyle>
            <a:lvl1pPr marL="0" indent="0">
              <a:lnSpc>
                <a:spcPts val="1530"/>
              </a:lnSpc>
              <a:spcBef>
                <a:spcPts val="1440"/>
              </a:spcBef>
              <a:buNone/>
              <a:defRPr sz="1080"/>
            </a:lvl1pPr>
            <a:lvl2pPr marL="411389" indent="0">
              <a:buNone/>
              <a:defRPr/>
            </a:lvl2pPr>
            <a:lvl3pPr marL="822777" indent="0">
              <a:buNone/>
              <a:defRPr/>
            </a:lvl3pPr>
            <a:lvl4pPr marL="1234166" indent="0">
              <a:buNone/>
              <a:defRPr/>
            </a:lvl4pPr>
            <a:lvl5pPr marL="1645554" indent="0">
              <a:buNone/>
              <a:defRPr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72226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ágina_texto_3_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D5BEBA1-2D7D-4FB4-91CE-8774E7C931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067" y="2148262"/>
            <a:ext cx="11021241" cy="3453203"/>
          </a:xfrm>
          <a:prstGeom prst="rect">
            <a:avLst/>
          </a:prstGeom>
          <a:noFill/>
        </p:spPr>
        <p:txBody>
          <a:bodyPr lIns="0" tIns="0" rIns="0" bIns="0" numCol="3" spcCol="255600"/>
          <a:lstStyle>
            <a:lvl1pPr marL="0" indent="0">
              <a:lnSpc>
                <a:spcPts val="1530"/>
              </a:lnSpc>
              <a:spcBef>
                <a:spcPts val="1440"/>
              </a:spcBef>
              <a:buNone/>
              <a:defRPr sz="1080"/>
            </a:lvl1pPr>
            <a:lvl2pPr marL="411389" indent="0">
              <a:buNone/>
              <a:defRPr/>
            </a:lvl2pPr>
            <a:lvl3pPr marL="822777" indent="0">
              <a:buNone/>
              <a:defRPr/>
            </a:lvl3pPr>
            <a:lvl4pPr marL="1234166" indent="0">
              <a:buNone/>
              <a:defRPr/>
            </a:lvl4pPr>
            <a:lvl5pPr marL="1645554" indent="0"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o Número do Diapositivo 12">
            <a:extLst>
              <a:ext uri="{FF2B5EF4-FFF2-40B4-BE49-F238E27FC236}">
                <a16:creationId xmlns:a16="http://schemas.microsoft.com/office/drawing/2014/main" id="{4DC487D5-36F2-4C2E-8C93-9B6BDB2D5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7141BCA9-F268-4B0C-86E7-695CAEF410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067" y="1313987"/>
            <a:ext cx="6264824" cy="3642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160">
                <a:solidFill>
                  <a:srgbClr val="E60F78"/>
                </a:solidFill>
                <a:latin typeface="+mj-lt"/>
              </a:defRPr>
            </a:lvl1pPr>
            <a:lvl2pPr marL="411389" indent="0">
              <a:buNone/>
              <a:defRPr sz="1800">
                <a:solidFill>
                  <a:schemeClr val="accent1"/>
                </a:solidFill>
                <a:latin typeface="+mj-lt"/>
              </a:defRPr>
            </a:lvl2pPr>
            <a:lvl3pPr marL="822777" indent="0">
              <a:buNone/>
              <a:defRPr sz="1800">
                <a:solidFill>
                  <a:schemeClr val="accent1"/>
                </a:solidFill>
                <a:latin typeface="+mj-lt"/>
              </a:defRPr>
            </a:lvl3pPr>
            <a:lvl4pPr marL="1234166" indent="0">
              <a:buNone/>
              <a:defRPr sz="1800">
                <a:solidFill>
                  <a:schemeClr val="accent1"/>
                </a:solidFill>
                <a:latin typeface="+mj-lt"/>
              </a:defRPr>
            </a:lvl4pPr>
            <a:lvl5pPr marL="1645554" indent="0">
              <a:buNone/>
              <a:defRPr sz="18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29691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ágina_texto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D5BEBA1-2D7D-4FB4-91CE-8774E7C931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068" y="2148262"/>
            <a:ext cx="4043131" cy="3447531"/>
          </a:xfrm>
          <a:prstGeom prst="rect">
            <a:avLst/>
          </a:prstGeom>
          <a:noFill/>
        </p:spPr>
        <p:txBody>
          <a:bodyPr lIns="0" tIns="0" rIns="0" bIns="0" numCol="1" spcCol="255600"/>
          <a:lstStyle>
            <a:lvl1pPr marL="0" indent="0">
              <a:lnSpc>
                <a:spcPts val="1530"/>
              </a:lnSpc>
              <a:spcBef>
                <a:spcPts val="1440"/>
              </a:spcBef>
              <a:buNone/>
              <a:defRPr sz="1080"/>
            </a:lvl1pPr>
            <a:lvl2pPr marL="411389" indent="0">
              <a:buNone/>
              <a:defRPr/>
            </a:lvl2pPr>
            <a:lvl3pPr marL="822777" indent="0">
              <a:buNone/>
              <a:defRPr/>
            </a:lvl3pPr>
            <a:lvl4pPr marL="1234166" indent="0">
              <a:buNone/>
              <a:defRPr/>
            </a:lvl4pPr>
            <a:lvl5pPr marL="1645554" indent="0"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Marcador de Posição do Gráfico 7">
            <a:extLst>
              <a:ext uri="{FF2B5EF4-FFF2-40B4-BE49-F238E27FC236}">
                <a16:creationId xmlns:a16="http://schemas.microsoft.com/office/drawing/2014/main" id="{1B348BF0-68B4-4596-936B-B7D64BB440D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94909" y="2148261"/>
            <a:ext cx="5674782" cy="3447530"/>
          </a:xfrm>
          <a:prstGeom prst="rect">
            <a:avLst/>
          </a:prstGeom>
        </p:spPr>
        <p:txBody>
          <a:bodyPr lIns="0" tIns="0" rIns="0" bIns="0"/>
          <a:lstStyle/>
          <a:p>
            <a:endParaRPr lang="pt-PT" dirty="0"/>
          </a:p>
        </p:txBody>
      </p:sp>
      <p:sp>
        <p:nvSpPr>
          <p:cNvPr id="6" name="Marcador de Posição do Número do Diapositivo 12">
            <a:extLst>
              <a:ext uri="{FF2B5EF4-FFF2-40B4-BE49-F238E27FC236}">
                <a16:creationId xmlns:a16="http://schemas.microsoft.com/office/drawing/2014/main" id="{2947989A-C01F-4C00-9263-9E56759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1D7C22C2-B650-4F4F-B1E4-46A707E8E9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067" y="1313987"/>
            <a:ext cx="6264824" cy="36425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160">
                <a:solidFill>
                  <a:srgbClr val="E60F78"/>
                </a:solidFill>
                <a:latin typeface="+mj-lt"/>
              </a:defRPr>
            </a:lvl1pPr>
            <a:lvl2pPr marL="411389" indent="0">
              <a:buNone/>
              <a:defRPr sz="1800">
                <a:solidFill>
                  <a:schemeClr val="accent1"/>
                </a:solidFill>
                <a:latin typeface="+mj-lt"/>
              </a:defRPr>
            </a:lvl2pPr>
            <a:lvl3pPr marL="822777" indent="0">
              <a:buNone/>
              <a:defRPr sz="1800">
                <a:solidFill>
                  <a:schemeClr val="accent1"/>
                </a:solidFill>
                <a:latin typeface="+mj-lt"/>
              </a:defRPr>
            </a:lvl3pPr>
            <a:lvl4pPr marL="1234166" indent="0">
              <a:buNone/>
              <a:defRPr sz="1800">
                <a:solidFill>
                  <a:schemeClr val="accent1"/>
                </a:solidFill>
                <a:latin typeface="+mj-lt"/>
              </a:defRPr>
            </a:lvl4pPr>
            <a:lvl5pPr marL="1645554" indent="0">
              <a:buNone/>
              <a:defRPr sz="18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3480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ágina de agradecimento_FX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o Número do Diapositivo 12">
            <a:extLst>
              <a:ext uri="{FF2B5EF4-FFF2-40B4-BE49-F238E27FC236}">
                <a16:creationId xmlns:a16="http://schemas.microsoft.com/office/drawing/2014/main" id="{0555DACB-70A1-4A4F-BBFE-7259F5662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cxnSp>
        <p:nvCxnSpPr>
          <p:cNvPr id="13" name="Conexão reta 8">
            <a:extLst>
              <a:ext uri="{FF2B5EF4-FFF2-40B4-BE49-F238E27FC236}">
                <a16:creationId xmlns:a16="http://schemas.microsoft.com/office/drawing/2014/main" id="{60A5F7B2-73B9-C94B-A3CD-C657D005CC0C}"/>
              </a:ext>
            </a:extLst>
          </p:cNvPr>
          <p:cNvCxnSpPr>
            <a:cxnSpLocks/>
          </p:cNvCxnSpPr>
          <p:nvPr userDrawn="1"/>
        </p:nvCxnSpPr>
        <p:spPr>
          <a:xfrm>
            <a:off x="3253497" y="3736095"/>
            <a:ext cx="123828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7">
            <a:extLst>
              <a:ext uri="{FF2B5EF4-FFF2-40B4-BE49-F238E27FC236}">
                <a16:creationId xmlns:a16="http://schemas.microsoft.com/office/drawing/2014/main" id="{DCF80403-1283-554A-9527-5C31D5BB1972}"/>
              </a:ext>
            </a:extLst>
          </p:cNvPr>
          <p:cNvSpPr txBox="1"/>
          <p:nvPr userDrawn="1"/>
        </p:nvSpPr>
        <p:spPr>
          <a:xfrm>
            <a:off x="3253497" y="3863820"/>
            <a:ext cx="1702800" cy="8617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>
                <a:solidFill>
                  <a:schemeClr val="tx2"/>
                </a:solidFill>
                <a:latin typeface="Campton Med" pitchFamily="50" charset="0"/>
              </a:rPr>
              <a:t>Grupo </a:t>
            </a:r>
            <a:r>
              <a:rPr lang="pt-PT" sz="800" err="1">
                <a:solidFill>
                  <a:schemeClr val="tx2"/>
                </a:solidFill>
                <a:latin typeface="Campton Med" pitchFamily="50" charset="0"/>
              </a:rPr>
              <a:t>Your</a:t>
            </a:r>
            <a:endParaRPr lang="pt-PT" sz="800">
              <a:solidFill>
                <a:schemeClr val="tx2"/>
              </a:solidFill>
              <a:latin typeface="Campton Med" pitchFamily="50" charset="0"/>
            </a:endParaRPr>
          </a:p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>
                <a:solidFill>
                  <a:schemeClr val="tx2"/>
                </a:solidFill>
                <a:latin typeface="+mn-lt"/>
              </a:rPr>
              <a:t>(+351) 211 950 520</a:t>
            </a:r>
            <a:br>
              <a:rPr lang="pt-PT" sz="800">
                <a:solidFill>
                  <a:schemeClr val="tx2"/>
                </a:solidFill>
                <a:latin typeface="+mn-lt"/>
              </a:rPr>
            </a:br>
            <a:r>
              <a:rPr lang="pt-PT" sz="800" u="none">
                <a:solidFill>
                  <a:schemeClr val="tx2"/>
                </a:solidFill>
                <a:latin typeface="+mn-lt"/>
              </a:rPr>
              <a:t>geral@grupoyour.pt</a:t>
            </a:r>
            <a:br>
              <a:rPr lang="pt-PT" sz="800" u="none">
                <a:solidFill>
                  <a:schemeClr val="tx2"/>
                </a:solidFill>
                <a:latin typeface="+mn-lt"/>
              </a:rPr>
            </a:br>
            <a:r>
              <a:rPr lang="pt-PT" sz="800">
                <a:solidFill>
                  <a:schemeClr val="tx2"/>
                </a:solidFill>
                <a:latin typeface="+mn-lt"/>
              </a:rPr>
              <a:t>www.grupoyour.pt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F0DF2E40-45E9-F14A-A894-0E542718ADFD}"/>
              </a:ext>
            </a:extLst>
          </p:cNvPr>
          <p:cNvSpPr txBox="1"/>
          <p:nvPr userDrawn="1"/>
        </p:nvSpPr>
        <p:spPr>
          <a:xfrm>
            <a:off x="4752192" y="3863820"/>
            <a:ext cx="1702800" cy="8617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Filipa Xavier de Basto</a:t>
            </a:r>
            <a:br>
              <a:rPr lang="pt-PT" sz="800" dirty="0">
                <a:solidFill>
                  <a:schemeClr val="tx2"/>
                </a:solidFill>
                <a:latin typeface="Campton Med" pitchFamily="50" charset="0"/>
              </a:rPr>
            </a:br>
            <a:r>
              <a:rPr lang="pt-PT" sz="800" dirty="0" err="1">
                <a:solidFill>
                  <a:schemeClr val="tx2"/>
                </a:solidFill>
                <a:latin typeface="Campton Med" pitchFamily="50" charset="0"/>
              </a:rPr>
              <a:t>Founding</a:t>
            </a:r>
            <a:r>
              <a:rPr lang="pt-PT" sz="800" dirty="0">
                <a:solidFill>
                  <a:schemeClr val="tx2"/>
                </a:solidFill>
                <a:latin typeface="Campton Med" pitchFamily="50" charset="0"/>
              </a:rPr>
              <a:t> </a:t>
            </a:r>
            <a:r>
              <a:rPr lang="pt-PT" sz="800" dirty="0" err="1">
                <a:solidFill>
                  <a:schemeClr val="tx2"/>
                </a:solidFill>
                <a:latin typeface="Campton Med" pitchFamily="50" charset="0"/>
              </a:rPr>
              <a:t>Partner</a:t>
            </a:r>
            <a:endParaRPr lang="pt-PT" sz="800" dirty="0">
              <a:solidFill>
                <a:schemeClr val="tx2"/>
              </a:solidFill>
              <a:latin typeface="Campton Med" pitchFamily="50" charset="0"/>
            </a:endParaRPr>
          </a:p>
          <a:p>
            <a:pPr>
              <a:lnSpc>
                <a:spcPts val="1300"/>
              </a:lnSpc>
              <a:spcBef>
                <a:spcPts val="800"/>
              </a:spcBef>
            </a:pPr>
            <a:r>
              <a:rPr lang="pt-PT" sz="800" dirty="0">
                <a:solidFill>
                  <a:schemeClr val="tx2"/>
                </a:solidFill>
                <a:latin typeface="+mn-lt"/>
              </a:rPr>
              <a:t>(+351) 914 470 075</a:t>
            </a:r>
            <a:br>
              <a:rPr lang="pt-PT" sz="800" dirty="0">
                <a:solidFill>
                  <a:schemeClr val="tx2"/>
                </a:solidFill>
                <a:latin typeface="+mn-lt"/>
              </a:rPr>
            </a:br>
            <a:r>
              <a:rPr lang="pt-PT" sz="800" u="none" dirty="0">
                <a:solidFill>
                  <a:schemeClr val="tx2"/>
                </a:solidFill>
                <a:latin typeface="+mn-lt"/>
              </a:rPr>
              <a:t>fxbasto@grupoyour.pt</a:t>
            </a:r>
            <a:endParaRPr lang="pt-PT" sz="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CaixaDeTexto 3">
            <a:extLst>
              <a:ext uri="{FF2B5EF4-FFF2-40B4-BE49-F238E27FC236}">
                <a16:creationId xmlns:a16="http://schemas.microsoft.com/office/drawing/2014/main" id="{26FF4A50-9EB8-6F40-B659-222E4D5039BE}"/>
              </a:ext>
            </a:extLst>
          </p:cNvPr>
          <p:cNvSpPr txBox="1"/>
          <p:nvPr userDrawn="1"/>
        </p:nvSpPr>
        <p:spPr>
          <a:xfrm>
            <a:off x="3253497" y="2048865"/>
            <a:ext cx="2476575" cy="76944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pt-PT" sz="4400" kern="1200" spc="-150" dirty="0">
                <a:solidFill>
                  <a:srgbClr val="E60F78"/>
                </a:solidFill>
                <a:latin typeface="+mj-lt"/>
                <a:ea typeface="+mn-ea"/>
                <a:cs typeface="+mn-cs"/>
              </a:rPr>
              <a:t>Obrigado</a:t>
            </a:r>
          </a:p>
        </p:txBody>
      </p:sp>
      <p:sp>
        <p:nvSpPr>
          <p:cNvPr id="19" name="CaixaDeTexto 13">
            <a:extLst>
              <a:ext uri="{FF2B5EF4-FFF2-40B4-BE49-F238E27FC236}">
                <a16:creationId xmlns:a16="http://schemas.microsoft.com/office/drawing/2014/main" id="{D5F01610-79BA-9C42-A083-0E856C067713}"/>
              </a:ext>
            </a:extLst>
          </p:cNvPr>
          <p:cNvSpPr txBox="1"/>
          <p:nvPr userDrawn="1"/>
        </p:nvSpPr>
        <p:spPr>
          <a:xfrm>
            <a:off x="3253497" y="3062986"/>
            <a:ext cx="1838004" cy="3139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PT" sz="1600" kern="1200">
                <a:solidFill>
                  <a:schemeClr val="tx2"/>
                </a:solidFill>
                <a:latin typeface="Campton" pitchFamily="50" charset="0"/>
                <a:ea typeface="+mn-ea"/>
                <a:cs typeface="+mn-cs"/>
              </a:rPr>
              <a:t>Nice to </a:t>
            </a:r>
            <a:r>
              <a:rPr lang="pt-PT" sz="1600" kern="1200" err="1">
                <a:solidFill>
                  <a:schemeClr val="tx2"/>
                </a:solidFill>
                <a:latin typeface="Campton" pitchFamily="50" charset="0"/>
                <a:ea typeface="+mn-ea"/>
                <a:cs typeface="+mn-cs"/>
              </a:rPr>
              <a:t>meet</a:t>
            </a:r>
            <a:r>
              <a:rPr lang="pt-PT" sz="1600" kern="1200">
                <a:solidFill>
                  <a:schemeClr val="tx2"/>
                </a:solidFill>
                <a:latin typeface="Campton" pitchFamily="50" charset="0"/>
                <a:ea typeface="+mn-ea"/>
                <a:cs typeface="+mn-cs"/>
              </a:rPr>
              <a:t> </a:t>
            </a:r>
            <a:r>
              <a:rPr lang="pt-PT" sz="1600" kern="1200" err="1">
                <a:solidFill>
                  <a:schemeClr val="tx2"/>
                </a:solidFill>
                <a:latin typeface="Campton" pitchFamily="50" charset="0"/>
                <a:ea typeface="+mn-ea"/>
                <a:cs typeface="+mn-cs"/>
              </a:rPr>
              <a:t>you</a:t>
            </a:r>
            <a:r>
              <a:rPr lang="pt-PT" sz="1600" kern="1200">
                <a:solidFill>
                  <a:schemeClr val="tx2"/>
                </a:solidFill>
                <a:latin typeface="Campton" pitchFamily="50" charset="0"/>
                <a:ea typeface="+mn-ea"/>
                <a:cs typeface="+mn-cs"/>
              </a:rPr>
              <a:t>.</a:t>
            </a:r>
          </a:p>
        </p:txBody>
      </p:sp>
      <p:cxnSp>
        <p:nvCxnSpPr>
          <p:cNvPr id="22" name="Conexão reta 8">
            <a:extLst>
              <a:ext uri="{FF2B5EF4-FFF2-40B4-BE49-F238E27FC236}">
                <a16:creationId xmlns:a16="http://schemas.microsoft.com/office/drawing/2014/main" id="{90591854-4F82-CB46-AA61-A83A2D93793D}"/>
              </a:ext>
            </a:extLst>
          </p:cNvPr>
          <p:cNvCxnSpPr>
            <a:cxnSpLocks/>
          </p:cNvCxnSpPr>
          <p:nvPr userDrawn="1"/>
        </p:nvCxnSpPr>
        <p:spPr>
          <a:xfrm>
            <a:off x="4767002" y="3736095"/>
            <a:ext cx="289418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49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ágina Final Y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E311FE-CAA6-6D4E-A2C5-FE39671A35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F1DCBA-1C3A-BDB3-6FB8-EE4CCA2D93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076" y="823914"/>
            <a:ext cx="10465200" cy="537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2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35A8065E-619C-4567-9D85-962723756A64}"/>
              </a:ext>
            </a:extLst>
          </p:cNvPr>
          <p:cNvCxnSpPr/>
          <p:nvPr userDrawn="1"/>
        </p:nvCxnSpPr>
        <p:spPr>
          <a:xfrm>
            <a:off x="366339" y="342112"/>
            <a:ext cx="1052357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osição do Número do Diapositivo 12">
            <a:extLst>
              <a:ext uri="{FF2B5EF4-FFF2-40B4-BE49-F238E27FC236}">
                <a16:creationId xmlns:a16="http://schemas.microsoft.com/office/drawing/2014/main" id="{BF9DDC08-9CD8-4B11-8800-0F593AA1B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6338" y="6426808"/>
            <a:ext cx="456626" cy="10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accent1"/>
                </a:solidFill>
              </a:defRPr>
            </a:lvl1pPr>
          </a:lstStyle>
          <a:p>
            <a:fld id="{3C6EA9A2-1311-43E6-A080-D73349CC0A10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E443F-B5E9-114A-84FF-B8C2DF9F244D}"/>
              </a:ext>
            </a:extLst>
          </p:cNvPr>
          <p:cNvSpPr txBox="1"/>
          <p:nvPr userDrawn="1"/>
        </p:nvSpPr>
        <p:spPr>
          <a:xfrm>
            <a:off x="366338" y="523625"/>
            <a:ext cx="3648101" cy="457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28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700" spc="-10" baseline="0" dirty="0">
                <a:solidFill>
                  <a:srgbClr val="0070C0"/>
                </a:solidFill>
              </a:rPr>
              <a:t>CS </a:t>
            </a:r>
            <a:r>
              <a:rPr lang="pt-PT" sz="700" spc="-10" baseline="0" dirty="0" err="1">
                <a:solidFill>
                  <a:srgbClr val="0070C0"/>
                </a:solidFill>
              </a:rPr>
              <a:t>Consulting</a:t>
            </a:r>
            <a:r>
              <a:rPr lang="pt-PT" sz="700" spc="-10" baseline="0" dirty="0">
                <a:solidFill>
                  <a:srgbClr val="0070C0"/>
                </a:solidFill>
              </a:rPr>
              <a:t> – {{CLIENTE}}</a:t>
            </a:r>
          </a:p>
        </p:txBody>
      </p:sp>
    </p:spTree>
    <p:extLst>
      <p:ext uri="{BB962C8B-B14F-4D97-AF65-F5344CB8AC3E}">
        <p14:creationId xmlns:p14="http://schemas.microsoft.com/office/powerpoint/2010/main" val="278387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6" r:id="rId2"/>
    <p:sldLayoutId id="2147483691" r:id="rId3"/>
    <p:sldLayoutId id="2147483697" r:id="rId4"/>
    <p:sldLayoutId id="2147483738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defTabSz="822777" rtl="0" eaLnBrk="1" latinLnBrk="0" hangingPunct="1">
        <a:lnSpc>
          <a:spcPct val="90000"/>
        </a:lnSpc>
        <a:spcBef>
          <a:spcPct val="0"/>
        </a:spcBef>
        <a:buNone/>
        <a:defRPr sz="39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694" indent="-205694" algn="l" defTabSz="822777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19" kern="1200">
          <a:solidFill>
            <a:schemeClr val="tx1"/>
          </a:solidFill>
          <a:latin typeface="+mn-lt"/>
          <a:ea typeface="+mn-ea"/>
          <a:cs typeface="+mn-cs"/>
        </a:defRPr>
      </a:lvl1pPr>
      <a:lvl2pPr marL="617083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471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39860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249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2637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026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5414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6803" indent="-205694" algn="l" defTabSz="822777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389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777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166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554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6943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331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79720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108" algn="l" defTabSz="822777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D25AC99-1C65-46B6-960E-202C617C65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53401" y="899438"/>
            <a:ext cx="3845871" cy="538837"/>
          </a:xfrm>
        </p:spPr>
        <p:txBody>
          <a:bodyPr/>
          <a:lstStyle/>
          <a:p>
            <a:r>
              <a:rPr lang="pt-PT" sz="3000" b="1" dirty="0"/>
              <a:t>{{CLIENTE}}</a:t>
            </a:r>
          </a:p>
          <a:p>
            <a:r>
              <a:rPr lang="pt-PT" dirty="0">
                <a:solidFill>
                  <a:srgbClr val="202945"/>
                </a:solidFill>
              </a:rPr>
              <a:t>———</a:t>
            </a:r>
            <a:r>
              <a:rPr lang="pt-PT" dirty="0">
                <a:solidFill>
                  <a:srgbClr val="E60F78"/>
                </a:solidFill>
              </a:rPr>
              <a:t>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09334F0-D57B-A335-39E0-0EC7CE72E3A7}"/>
              </a:ext>
            </a:extLst>
          </p:cNvPr>
          <p:cNvSpPr/>
          <p:nvPr/>
        </p:nvSpPr>
        <p:spPr>
          <a:xfrm>
            <a:off x="8600536" y="5296619"/>
            <a:ext cx="517585" cy="396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673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758DF4-10D5-9F47-94A7-9DB7F71F6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/>
          <a:lstStyle/>
          <a:p>
            <a:fld id="{3C6EA9A2-1311-43E6-A080-D73349CC0A10}" type="slidenum">
              <a:rPr lang="pt-PT" smtClean="0"/>
              <a:pPr/>
              <a:t>2</a:t>
            </a:fld>
            <a:endParaRPr lang="pt-PT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888095B-5306-494F-85EE-231FBBEB586F}"/>
              </a:ext>
            </a:extLst>
          </p:cNvPr>
          <p:cNvSpPr txBox="1">
            <a:spLocks/>
          </p:cNvSpPr>
          <p:nvPr/>
        </p:nvSpPr>
        <p:spPr>
          <a:xfrm>
            <a:off x="822964" y="1688409"/>
            <a:ext cx="5120636" cy="4486680"/>
          </a:xfrm>
          <a:prstGeom prst="rect">
            <a:avLst/>
          </a:prstGeom>
          <a:noFill/>
        </p:spPr>
        <p:txBody>
          <a:bodyPr lIns="0" tIns="0" rIns="0" bIns="0" numCol="1" spcCol="255600"/>
          <a:lstStyle>
            <a:lvl1pPr marL="0" indent="0" algn="l" defTabSz="914400" rtl="0" eaLnBrk="1" latinLnBrk="0" hangingPunct="1">
              <a:lnSpc>
                <a:spcPts val="1700"/>
              </a:lnSpc>
              <a:spcBef>
                <a:spcPts val="1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50" dirty="0"/>
              <a:t>{{P1}}</a:t>
            </a:r>
          </a:p>
        </p:txBody>
      </p:sp>
      <p:sp>
        <p:nvSpPr>
          <p:cNvPr id="6" name="Marcador de Posição de Conteúdo 3">
            <a:extLst>
              <a:ext uri="{FF2B5EF4-FFF2-40B4-BE49-F238E27FC236}">
                <a16:creationId xmlns:a16="http://schemas.microsoft.com/office/drawing/2014/main" id="{325A3BD4-6224-DF43-8838-20089E5B89D6}"/>
              </a:ext>
            </a:extLst>
          </p:cNvPr>
          <p:cNvSpPr txBox="1">
            <a:spLocks/>
          </p:cNvSpPr>
          <p:nvPr/>
        </p:nvSpPr>
        <p:spPr>
          <a:xfrm>
            <a:off x="822964" y="1030046"/>
            <a:ext cx="2765182" cy="4048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spc="-80" dirty="0">
                <a:solidFill>
                  <a:srgbClr val="202945"/>
                </a:solidFill>
              </a:rPr>
              <a:t>Pressupostos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3800DCE-F6E6-3C48-FBDB-860945C8A5EB}"/>
              </a:ext>
            </a:extLst>
          </p:cNvPr>
          <p:cNvGrpSpPr/>
          <p:nvPr/>
        </p:nvGrpSpPr>
        <p:grpSpPr>
          <a:xfrm>
            <a:off x="6096794" y="1688409"/>
            <a:ext cx="6096794" cy="4134875"/>
            <a:chOff x="0" y="0"/>
            <a:chExt cx="5381625" cy="3590925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CEC3027D-AF35-2327-430A-54E716E93C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558"/>
            <a:stretch/>
          </p:blipFill>
          <p:spPr bwMode="auto">
            <a:xfrm>
              <a:off x="0" y="0"/>
              <a:ext cx="2714625" cy="359092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47D601B1-5F0C-79C8-D01D-8B8083144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381625" cy="35909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4214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758DF4-10D5-9F47-94A7-9DB7F71F6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/>
          <a:lstStyle/>
          <a:p>
            <a:fld id="{3C6EA9A2-1311-43E6-A080-D73349CC0A10}" type="slidenum">
              <a:rPr lang="pt-PT" smtClean="0"/>
              <a:pPr/>
              <a:t>3</a:t>
            </a:fld>
            <a:endParaRPr lang="pt-PT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888095B-5306-494F-85EE-231FBBEB586F}"/>
              </a:ext>
            </a:extLst>
          </p:cNvPr>
          <p:cNvSpPr txBox="1">
            <a:spLocks/>
          </p:cNvSpPr>
          <p:nvPr/>
        </p:nvSpPr>
        <p:spPr>
          <a:xfrm>
            <a:off x="822964" y="1688409"/>
            <a:ext cx="5120636" cy="4486680"/>
          </a:xfrm>
          <a:prstGeom prst="rect">
            <a:avLst/>
          </a:prstGeom>
          <a:noFill/>
        </p:spPr>
        <p:txBody>
          <a:bodyPr lIns="0" tIns="0" rIns="0" bIns="0" numCol="1" spcCol="255600"/>
          <a:lstStyle>
            <a:lvl1pPr marL="0" indent="0" algn="l" defTabSz="914400" rtl="0" eaLnBrk="1" latinLnBrk="0" hangingPunct="1">
              <a:lnSpc>
                <a:spcPts val="1700"/>
              </a:lnSpc>
              <a:spcBef>
                <a:spcPts val="1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50" dirty="0"/>
              <a:t>{{P2L}}</a:t>
            </a:r>
          </a:p>
        </p:txBody>
      </p:sp>
      <p:sp>
        <p:nvSpPr>
          <p:cNvPr id="50" name="Text Placeholder 50"/>
          <p:cNvSpPr txBox="1">
            <a:spLocks/>
          </p:cNvSpPr>
          <p:nvPr/>
        </p:nvSpPr>
        <p:spPr>
          <a:xfrm>
            <a:off x="6400000" y="1688409"/>
            <a:ext cx="5120636" cy="4486680"/>
          </a:xfrm>
          <a:prstGeom prst="rect">
            <a:avLst/>
          </a:prstGeom>
          <a:noFill/>
        </p:spPr>
        <p:txBody>
          <a:bodyPr lIns="0" tIns="0" rIns="0" bIns="0" numCol="1" spcCol="255600"/>
          <a:lstStyle>
            <a:lvl1pPr marL="0" indent="0" algn="l" defTabSz="914400" rtl="0" eaLnBrk="1" latinLnBrk="0" hangingPunct="1">
              <a:lnSpc>
                <a:spcPts val="1700"/>
              </a:lnSpc>
              <a:spcBef>
                <a:spcPts val="1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50" dirty="0"/>
              <a:t>{{P2R}}</a:t>
            </a:r>
          </a:p>
        </p:txBody>
      </p:sp>
      <p:sp>
        <p:nvSpPr>
          <p:cNvPr id="6" name="Marcador de Posição de Conteúdo 3">
            <a:extLst>
              <a:ext uri="{FF2B5EF4-FFF2-40B4-BE49-F238E27FC236}">
                <a16:creationId xmlns:a16="http://schemas.microsoft.com/office/drawing/2014/main" id="{325A3BD4-6224-DF43-8838-20089E5B89D6}"/>
              </a:ext>
            </a:extLst>
          </p:cNvPr>
          <p:cNvSpPr txBox="1">
            <a:spLocks/>
          </p:cNvSpPr>
          <p:nvPr/>
        </p:nvSpPr>
        <p:spPr>
          <a:xfrm>
            <a:off x="822964" y="1030046"/>
            <a:ext cx="5500000" cy="4048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spc="-80" dirty="0">
                <a:solidFill>
                  <a:srgbClr val="202945"/>
                </a:solidFill>
              </a:rPr>
              <a:t>Pressupostos (continuação)</a:t>
            </a:r>
          </a:p>
        </p:txBody>
      </p:sp>
    </p:spTree>
    <p:extLst>
      <p:ext uri="{BB962C8B-B14F-4D97-AF65-F5344CB8AC3E}">
        <p14:creationId xmlns:p14="http://schemas.microsoft.com/office/powerpoint/2010/main" val="64214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D9DB97-1FED-B216-52E3-058709CCEE41}"/>
              </a:ext>
            </a:extLst>
          </p:cNvPr>
          <p:cNvSpPr/>
          <p:nvPr/>
        </p:nvSpPr>
        <p:spPr>
          <a:xfrm>
            <a:off x="1" y="3673735"/>
            <a:ext cx="12193587" cy="318426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24FAED-43B8-5F42-BE1B-9662D44A00C9}"/>
              </a:ext>
            </a:extLst>
          </p:cNvPr>
          <p:cNvSpPr/>
          <p:nvPr/>
        </p:nvSpPr>
        <p:spPr>
          <a:xfrm>
            <a:off x="932508" y="1209440"/>
            <a:ext cx="10121774" cy="3500000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  <a:effectLst>
            <a:outerShdw blurRad="584200" dist="241300" dir="5400000" algn="t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18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CF5A3B-8B98-4508-A257-4333B1CEE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04929"/>
              </p:ext>
            </p:extLst>
          </p:nvPr>
        </p:nvGraphicFramePr>
        <p:xfrm>
          <a:off x="1584356" y="1299184"/>
          <a:ext cx="8774828" cy="2879185"/>
        </p:xfrm>
        <a:graphic>
          <a:graphicData uri="http://schemas.openxmlformats.org/drawingml/2006/table">
            <a:tbl>
              <a:tblPr/>
              <a:tblGrid>
                <a:gridCol w="3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04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000" b="1" i="0" u="none" strike="noStrike" dirty="0">
                        <a:solidFill>
                          <a:schemeClr val="tx1"/>
                        </a:solidFill>
                        <a:effectLst/>
                        <a:latin typeface="Campton SemBd" pitchFamily="50" charset="0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 err="1">
                          <a:solidFill>
                            <a:schemeClr val="tx2"/>
                          </a:solidFill>
                          <a:effectLst/>
                          <a:latin typeface="Campton SemBd" pitchFamily="50" charset="0"/>
                        </a:rPr>
                        <a:t>Honorários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dirty="0" err="1">
                          <a:solidFill>
                            <a:schemeClr val="tx2"/>
                          </a:solidFill>
                          <a:effectLst/>
                          <a:latin typeface="Campton SemBd" pitchFamily="50" charset="0"/>
                        </a:rPr>
                        <a:t>Entidade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dirty="0" err="1">
                          <a:solidFill>
                            <a:schemeClr val="tx2"/>
                          </a:solidFill>
                          <a:effectLst/>
                          <a:latin typeface="Campton SemBd" pitchFamily="50" charset="0"/>
                        </a:rPr>
                        <a:t>Entidade 2</a:t>
                      </a:r>
                      <a:endParaRPr lang="pt-PT" sz="1000" b="1" i="0" u="none" strike="noStrike" dirty="0">
                        <a:solidFill>
                          <a:schemeClr val="tx2"/>
                        </a:solidFill>
                        <a:effectLst/>
                        <a:latin typeface="Campton SemBd" pitchFamily="50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dirty="0">
                          <a:solidFill>
                            <a:schemeClr val="tx2"/>
                          </a:solidFill>
                          <a:effectLst/>
                          <a:latin typeface="Campton SemBd" pitchFamily="50" charset="0"/>
                        </a:rPr>
                        <a:t>Entidade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28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  <a:endParaRPr lang="pt-PT" sz="1000" b="1" i="0" u="sng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57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2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57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28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57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257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22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22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257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4" marR="5714" marT="5714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Serviço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22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22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aixaDeTexto 5">
            <a:extLst>
              <a:ext uri="{FF2B5EF4-FFF2-40B4-BE49-F238E27FC236}">
                <a16:creationId xmlns:a16="http://schemas.microsoft.com/office/drawing/2014/main" id="{A9908307-B3FD-4A9D-A31D-AE26504D886C}"/>
              </a:ext>
            </a:extLst>
          </p:cNvPr>
          <p:cNvSpPr txBox="1"/>
          <p:nvPr/>
        </p:nvSpPr>
        <p:spPr>
          <a:xfrm>
            <a:off x="1428751" y="5000000"/>
            <a:ext cx="8385855" cy="707209"/>
          </a:xfrm>
          <a:prstGeom prst="rect">
            <a:avLst/>
          </a:prstGeom>
          <a:noFill/>
        </p:spPr>
        <p:txBody>
          <a:bodyPr wrap="square" lIns="0" tIns="0" rIns="0" bIns="0" numCol="2" rtlCol="0">
            <a:noAutofit/>
          </a:bodyPr>
          <a:lstStyle/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pt-PT" sz="800" dirty="0">
                <a:latin typeface="Campton SemBd" pitchFamily="50" charset="0"/>
              </a:rPr>
              <a:t>Notas:</a:t>
            </a:r>
            <a:endParaRPr lang="en-US" sz="800" dirty="0"/>
          </a:p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en-US" sz="800" dirty="0"/>
              <a:t>A </a:t>
            </a:r>
            <a:r>
              <a:rPr lang="en-US" sz="800" dirty="0" err="1"/>
              <a:t>estes</a:t>
            </a:r>
            <a:r>
              <a:rPr lang="en-US" sz="800" dirty="0"/>
              <a:t> </a:t>
            </a:r>
            <a:r>
              <a:rPr lang="en-US" sz="800" dirty="0" err="1"/>
              <a:t>honorários</a:t>
            </a:r>
            <a:r>
              <a:rPr lang="en-US" sz="800" dirty="0"/>
              <a:t> é </a:t>
            </a:r>
            <a:r>
              <a:rPr lang="en-US" sz="800" dirty="0" err="1"/>
              <a:t>acrescentado</a:t>
            </a:r>
            <a:r>
              <a:rPr lang="en-US" sz="800" dirty="0"/>
              <a:t> IVA à taxa </a:t>
            </a:r>
            <a:r>
              <a:rPr lang="en-US" sz="800" dirty="0" err="1"/>
              <a:t>em</a:t>
            </a:r>
            <a:r>
              <a:rPr lang="en-US" sz="800" dirty="0"/>
              <a:t> vigor.</a:t>
            </a:r>
          </a:p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en-US" sz="800" dirty="0"/>
              <a:t>Estes </a:t>
            </a:r>
            <a:r>
              <a:rPr lang="en-US" sz="800" dirty="0" err="1"/>
              <a:t>honorários</a:t>
            </a:r>
            <a:r>
              <a:rPr lang="en-US" sz="800" dirty="0"/>
              <a:t> </a:t>
            </a:r>
            <a:r>
              <a:rPr lang="en-US" sz="800" dirty="0" err="1"/>
              <a:t>irão</a:t>
            </a:r>
            <a:r>
              <a:rPr lang="en-US" sz="800" dirty="0"/>
              <a:t> ser </a:t>
            </a:r>
            <a:r>
              <a:rPr lang="en-US" sz="800" dirty="0" err="1"/>
              <a:t>revistos</a:t>
            </a:r>
            <a:r>
              <a:rPr lang="en-US" sz="800" dirty="0"/>
              <a:t> </a:t>
            </a:r>
            <a:r>
              <a:rPr lang="en-US" sz="800" dirty="0" err="1"/>
              <a:t>periodicamente</a:t>
            </a:r>
            <a:r>
              <a:rPr lang="en-US" sz="800" dirty="0"/>
              <a:t> de </a:t>
            </a:r>
            <a:r>
              <a:rPr lang="en-US" sz="800" dirty="0" err="1"/>
              <a:t>acordo</a:t>
            </a:r>
            <a:r>
              <a:rPr lang="en-US" sz="800" dirty="0"/>
              <a:t> com </a:t>
            </a:r>
            <a:r>
              <a:rPr lang="en-US" sz="800" dirty="0" err="1"/>
              <a:t>alterações</a:t>
            </a:r>
            <a:r>
              <a:rPr lang="en-US" sz="800" dirty="0"/>
              <a:t> </a:t>
            </a:r>
            <a:r>
              <a:rPr lang="en-US" sz="800" dirty="0" err="1"/>
              <a:t>na</a:t>
            </a:r>
            <a:r>
              <a:rPr lang="en-US" sz="800" dirty="0"/>
              <a:t> </a:t>
            </a:r>
            <a:r>
              <a:rPr lang="en-US" sz="800" dirty="0" err="1"/>
              <a:t>atividade</a:t>
            </a:r>
            <a:r>
              <a:rPr lang="en-US" sz="800" dirty="0"/>
              <a:t> e a </a:t>
            </a:r>
            <a:r>
              <a:rPr lang="en-US" sz="800" dirty="0" err="1"/>
              <a:t>inflação</a:t>
            </a:r>
            <a:r>
              <a:rPr lang="en-US" sz="800" dirty="0"/>
              <a:t> </a:t>
            </a:r>
            <a:r>
              <a:rPr lang="en-US" sz="800" dirty="0" err="1"/>
              <a:t>anual</a:t>
            </a:r>
            <a:r>
              <a:rPr lang="en-US" sz="800" dirty="0"/>
              <a:t> </a:t>
            </a:r>
            <a:r>
              <a:rPr lang="en-US" sz="800" dirty="0" err="1"/>
              <a:t>registada</a:t>
            </a:r>
            <a:r>
              <a:rPr lang="en-US" sz="800" dirty="0"/>
              <a:t>.</a:t>
            </a:r>
          </a:p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pt-PT" sz="800" dirty="0"/>
              <a:t>Esta proposta é válida por 30 dias.</a:t>
            </a:r>
          </a:p>
          <a:p>
            <a:pPr>
              <a:lnSpc>
                <a:spcPts val="700"/>
              </a:lnSpc>
              <a:spcAft>
                <a:spcPts val="600"/>
              </a:spcAft>
            </a:pPr>
            <a:endParaRPr lang="en-US" sz="800" dirty="0"/>
          </a:p>
          <a:p>
            <a:pPr>
              <a:lnSpc>
                <a:spcPts val="700"/>
              </a:lnSpc>
              <a:spcAft>
                <a:spcPts val="600"/>
              </a:spcAft>
            </a:pPr>
            <a:endParaRPr lang="en-US" sz="800" dirty="0"/>
          </a:p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en-US" sz="800" dirty="0"/>
              <a:t>	</a:t>
            </a:r>
            <a:r>
              <a:rPr lang="en-US" sz="800" dirty="0" err="1"/>
              <a:t>Condições</a:t>
            </a:r>
            <a:r>
              <a:rPr lang="en-US" sz="800" dirty="0"/>
              <a:t> de </a:t>
            </a:r>
            <a:r>
              <a:rPr lang="en-US" sz="800" dirty="0" err="1"/>
              <a:t>faturação</a:t>
            </a:r>
            <a:r>
              <a:rPr lang="en-US" sz="800" dirty="0"/>
              <a:t> da </a:t>
            </a:r>
            <a:r>
              <a:rPr lang="en-US" sz="800" dirty="0" err="1"/>
              <a:t>contabilidade</a:t>
            </a:r>
            <a:r>
              <a:rPr lang="en-US" sz="800" dirty="0"/>
              <a:t>: </a:t>
            </a:r>
          </a:p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en-US" sz="800" dirty="0"/>
              <a:t>	</a:t>
            </a:r>
            <a:r>
              <a:rPr lang="en-US" sz="800" dirty="0" err="1"/>
              <a:t>Até</a:t>
            </a:r>
            <a:r>
              <a:rPr lang="en-US" sz="800" dirty="0"/>
              <a:t> </a:t>
            </a:r>
            <a:r>
              <a:rPr lang="en-US" sz="800" dirty="0" err="1"/>
              <a:t>ao</a:t>
            </a:r>
            <a:r>
              <a:rPr lang="en-US" sz="800" dirty="0"/>
              <a:t> final do </a:t>
            </a:r>
            <a:r>
              <a:rPr lang="en-US" sz="800" dirty="0" err="1"/>
              <a:t>mês</a:t>
            </a:r>
            <a:r>
              <a:rPr lang="en-US" sz="800" dirty="0"/>
              <a:t> do </a:t>
            </a:r>
            <a:r>
              <a:rPr lang="en-US" sz="800" dirty="0" err="1"/>
              <a:t>serviço</a:t>
            </a:r>
            <a:r>
              <a:rPr lang="en-US" sz="800" dirty="0"/>
              <a:t> (30 </a:t>
            </a:r>
            <a:r>
              <a:rPr lang="en-US" sz="800" dirty="0" err="1"/>
              <a:t>dias</a:t>
            </a:r>
            <a:r>
              <a:rPr lang="en-US" sz="800" dirty="0"/>
              <a:t>)</a:t>
            </a:r>
          </a:p>
          <a:p>
            <a:pPr>
              <a:lnSpc>
                <a:spcPts val="700"/>
              </a:lnSpc>
              <a:spcAft>
                <a:spcPts val="600"/>
              </a:spcAft>
            </a:pPr>
            <a:r>
              <a:rPr lang="en-US" sz="800" dirty="0"/>
              <a:t> </a:t>
            </a:r>
          </a:p>
          <a:p>
            <a:pPr marL="154271" indent="-154271">
              <a:buClr>
                <a:schemeClr val="accent1"/>
              </a:buClr>
              <a:buFont typeface="Campton Light" pitchFamily="50" charset="0"/>
              <a:buChar char="—"/>
            </a:pPr>
            <a:endParaRPr lang="pt-PT" sz="800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6DDD7DAB-4916-CA4B-82DC-488951134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/>
          <a:lstStyle/>
          <a:p>
            <a:r>
              <a:rPr lang="pt-PT" dirty="0"/>
              <a:t>3</a:t>
            </a:r>
          </a:p>
        </p:txBody>
      </p:sp>
      <p:sp>
        <p:nvSpPr>
          <p:cNvPr id="13" name="Marcador de Posição de Conteúdo 3">
            <a:extLst>
              <a:ext uri="{FF2B5EF4-FFF2-40B4-BE49-F238E27FC236}">
                <a16:creationId xmlns:a16="http://schemas.microsoft.com/office/drawing/2014/main" id="{839CB332-223D-9B58-5423-3970265F5492}"/>
              </a:ext>
            </a:extLst>
          </p:cNvPr>
          <p:cNvSpPr txBox="1">
            <a:spLocks/>
          </p:cNvSpPr>
          <p:nvPr/>
        </p:nvSpPr>
        <p:spPr>
          <a:xfrm>
            <a:off x="731104" y="884470"/>
            <a:ext cx="5696329" cy="12613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822777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16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11389" indent="0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822777" indent="0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234166" indent="0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645554" indent="0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262637" indent="-205694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026" indent="-205694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5414" indent="-205694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6803" indent="-205694" algn="l" defTabSz="822777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000" spc="-20" dirty="0">
                <a:solidFill>
                  <a:srgbClr val="0070C0"/>
                </a:solidFill>
              </a:rPr>
              <a:t>Honorários</a:t>
            </a:r>
          </a:p>
        </p:txBody>
      </p:sp>
    </p:spTree>
    <p:extLst>
      <p:ext uri="{BB962C8B-B14F-4D97-AF65-F5344CB8AC3E}">
        <p14:creationId xmlns:p14="http://schemas.microsoft.com/office/powerpoint/2010/main" val="3041338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643E04-983B-9837-8B4B-6084383FE5C7}"/>
              </a:ext>
            </a:extLst>
          </p:cNvPr>
          <p:cNvSpPr/>
          <p:nvPr/>
        </p:nvSpPr>
        <p:spPr>
          <a:xfrm>
            <a:off x="0" y="3711834"/>
            <a:ext cx="12193587" cy="318426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7BC52-A2AE-A94E-23B7-0A88236818DA}"/>
              </a:ext>
            </a:extLst>
          </p:cNvPr>
          <p:cNvSpPr/>
          <p:nvPr/>
        </p:nvSpPr>
        <p:spPr>
          <a:xfrm>
            <a:off x="0" y="3673735"/>
            <a:ext cx="12193587" cy="318426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24FAED-43B8-5F42-BE1B-9662D44A00C9}"/>
              </a:ext>
            </a:extLst>
          </p:cNvPr>
          <p:cNvSpPr/>
          <p:nvPr/>
        </p:nvSpPr>
        <p:spPr>
          <a:xfrm>
            <a:off x="918073" y="1234740"/>
            <a:ext cx="3333353" cy="2363111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  <a:effectLst>
            <a:outerShdw blurRad="584200" dist="241300" dir="5400000" algn="t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18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920C3782-C993-4009-BAF9-521137DD1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0078" y="6452686"/>
            <a:ext cx="456626" cy="106222"/>
          </a:xfrm>
        </p:spPr>
        <p:txBody>
          <a:bodyPr/>
          <a:lstStyle/>
          <a:p>
            <a:r>
              <a:rPr lang="pt-PT" dirty="0"/>
              <a:t>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D4B67D-0659-46C1-B243-A399C6F04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188965"/>
              </p:ext>
            </p:extLst>
          </p:nvPr>
        </p:nvGraphicFramePr>
        <p:xfrm>
          <a:off x="1109856" y="1328143"/>
          <a:ext cx="3032998" cy="2133958"/>
        </p:xfrm>
        <a:graphic>
          <a:graphicData uri="http://schemas.openxmlformats.org/drawingml/2006/table">
            <a:tbl>
              <a:tblPr/>
              <a:tblGrid>
                <a:gridCol w="1516499">
                  <a:extLst>
                    <a:ext uri="{9D8B030D-6E8A-4147-A177-3AD203B41FA5}">
                      <a16:colId xmlns:a16="http://schemas.microsoft.com/office/drawing/2014/main" val="4026908580"/>
                    </a:ext>
                  </a:extLst>
                </a:gridCol>
                <a:gridCol w="1516499">
                  <a:extLst>
                    <a:ext uri="{9D8B030D-6E8A-4147-A177-3AD203B41FA5}">
                      <a16:colId xmlns:a16="http://schemas.microsoft.com/office/drawing/2014/main" val="1499452531"/>
                    </a:ext>
                  </a:extLst>
                </a:gridCol>
              </a:tblGrid>
              <a:tr h="469863">
                <a:tc>
                  <a:txBody>
                    <a:bodyPr/>
                    <a:lstStyle/>
                    <a:p>
                      <a:pPr algn="l" latinLnBrk="0"/>
                      <a:r>
                        <a:rPr lang="pt-PT" sz="1100" b="1" i="0" dirty="0">
                          <a:effectLst/>
                          <a:latin typeface="Campton SemBd" pitchFamily="2" charset="77"/>
                        </a:rPr>
                        <a:t>Funcionários</a:t>
                      </a:r>
                      <a:endParaRPr lang="fr-FR" sz="1100" b="1" i="0" dirty="0">
                        <a:effectLst/>
                        <a:latin typeface="Campton SemBd" pitchFamily="2" charset="77"/>
                      </a:endParaRPr>
                    </a:p>
                  </a:txBody>
                  <a:tcPr marL="82279" marR="82279" marT="41139" marB="4113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fr-FR" sz="1100" b="1" i="0" dirty="0" err="1">
                          <a:effectLst/>
                          <a:latin typeface="Campton SemBd" pitchFamily="2" charset="77"/>
                        </a:rPr>
                        <a:t>Honorário</a:t>
                      </a:r>
                      <a:r>
                        <a:rPr lang="fr-FR" sz="1100" b="1" i="0" dirty="0">
                          <a:effectLst/>
                          <a:latin typeface="Campton SemBd" pitchFamily="2" charset="77"/>
                        </a:rPr>
                        <a:t> </a:t>
                      </a:r>
                      <a:r>
                        <a:rPr lang="fr-FR" sz="1100" b="1" i="0" dirty="0" err="1">
                          <a:effectLst/>
                          <a:latin typeface="Campton SemBd" pitchFamily="2" charset="77"/>
                        </a:rPr>
                        <a:t>Anual</a:t>
                      </a:r>
                      <a:endParaRPr lang="fr-FR" sz="1100" b="1" i="0" dirty="0">
                        <a:effectLst/>
                        <a:latin typeface="Campton SemBd" pitchFamily="2" charset="77"/>
                      </a:endParaRPr>
                    </a:p>
                  </a:txBody>
                  <a:tcPr marL="82279" marR="82279" marT="41139" marB="4113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200253"/>
                  </a:ext>
                </a:extLst>
              </a:tr>
              <a:tr h="332819">
                <a:tc>
                  <a:txBody>
                    <a:bodyPr/>
                    <a:lstStyle/>
                    <a:p>
                      <a:pPr fontAlgn="b" latinLnBrk="0"/>
                      <a:r>
                        <a:rPr lang="fr-FR" sz="1050" dirty="0">
                          <a:effectLst/>
                        </a:rPr>
                        <a:t>1 a 5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fr-FR" sz="1050" dirty="0">
                          <a:effectLst/>
                        </a:rPr>
                        <a:t>50€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751103"/>
                  </a:ext>
                </a:extLst>
              </a:tr>
              <a:tr h="332819">
                <a:tc>
                  <a:txBody>
                    <a:bodyPr/>
                    <a:lstStyle/>
                    <a:p>
                      <a:pPr fontAlgn="b" latinLnBrk="0"/>
                      <a:r>
                        <a:rPr lang="fr-FR" sz="1050" dirty="0">
                          <a:effectLst/>
                        </a:rPr>
                        <a:t>6 a 20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fr-FR" sz="1050" dirty="0">
                          <a:effectLst/>
                        </a:rPr>
                        <a:t>100€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494105"/>
                  </a:ext>
                </a:extLst>
              </a:tr>
              <a:tr h="332819">
                <a:tc>
                  <a:txBody>
                    <a:bodyPr/>
                    <a:lstStyle/>
                    <a:p>
                      <a:pPr fontAlgn="b" latinLnBrk="0"/>
                      <a:r>
                        <a:rPr lang="fr-FR" sz="1050" dirty="0">
                          <a:effectLst/>
                        </a:rPr>
                        <a:t> 21 a 50 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fr-FR" sz="1050" dirty="0">
                          <a:effectLst/>
                        </a:rPr>
                        <a:t>225€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609423"/>
                  </a:ext>
                </a:extLst>
              </a:tr>
              <a:tr h="332819">
                <a:tc>
                  <a:txBody>
                    <a:bodyPr/>
                    <a:lstStyle/>
                    <a:p>
                      <a:pPr fontAlgn="b" latinLnBrk="0"/>
                      <a:r>
                        <a:rPr lang="fr-FR" sz="1050" dirty="0">
                          <a:effectLst/>
                        </a:rPr>
                        <a:t> 51 a 99 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fr-FR" sz="1050" dirty="0">
                          <a:effectLst/>
                        </a:rPr>
                        <a:t>350€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148540"/>
                  </a:ext>
                </a:extLst>
              </a:tr>
              <a:tr h="332819">
                <a:tc>
                  <a:txBody>
                    <a:bodyPr/>
                    <a:lstStyle/>
                    <a:p>
                      <a:pPr fontAlgn="b" latinLnBrk="0"/>
                      <a:r>
                        <a:rPr lang="fr-FR" sz="1050" dirty="0">
                          <a:effectLst/>
                        </a:rPr>
                        <a:t> mais de 100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fr-FR" sz="1050" dirty="0">
                          <a:effectLst/>
                        </a:rPr>
                        <a:t>525€</a:t>
                      </a:r>
                      <a:endParaRPr lang="fr-FR" sz="1600" dirty="0">
                        <a:effectLst/>
                      </a:endParaRPr>
                    </a:p>
                  </a:txBody>
                  <a:tcPr marL="82279" marR="82279" marT="41139" marB="41139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73336"/>
                  </a:ext>
                </a:extLst>
              </a:tr>
            </a:tbl>
          </a:graphicData>
        </a:graphic>
      </p:graphicFrame>
      <p:sp>
        <p:nvSpPr>
          <p:cNvPr id="12" name="Marcador de Posição de Conteúdo 3">
            <a:extLst>
              <a:ext uri="{FF2B5EF4-FFF2-40B4-BE49-F238E27FC236}">
                <a16:creationId xmlns:a16="http://schemas.microsoft.com/office/drawing/2014/main" id="{DEE9FC51-0EB0-411E-9186-DE1BE49C6455}"/>
              </a:ext>
            </a:extLst>
          </p:cNvPr>
          <p:cNvSpPr txBox="1">
            <a:spLocks/>
          </p:cNvSpPr>
          <p:nvPr/>
        </p:nvSpPr>
        <p:spPr>
          <a:xfrm>
            <a:off x="736704" y="882120"/>
            <a:ext cx="3821830" cy="20843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800" spc="-18" dirty="0">
                <a:solidFill>
                  <a:srgbClr val="0070C0"/>
                </a:solidFill>
              </a:rPr>
              <a:t>Relatório Único – Tabela I</a:t>
            </a:r>
          </a:p>
        </p:txBody>
      </p:sp>
    </p:spTree>
    <p:extLst>
      <p:ext uri="{BB962C8B-B14F-4D97-AF65-F5344CB8AC3E}">
        <p14:creationId xmlns:p14="http://schemas.microsoft.com/office/powerpoint/2010/main" val="297215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8296FD09-2899-A69A-F841-66C86A882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672" y="6025762"/>
            <a:ext cx="714475" cy="571580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4C0B115-6838-6C9F-AB53-9D4964506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6EA9A2-1311-43E6-A080-D73349CC0A10}" type="slidenum">
              <a:rPr lang="pt-PT" smtClean="0"/>
              <a:pPr/>
              <a:t>6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1E5BD2-D26A-334B-058A-2EE2967E959E}"/>
              </a:ext>
            </a:extLst>
          </p:cNvPr>
          <p:cNvSpPr txBox="1"/>
          <p:nvPr/>
        </p:nvSpPr>
        <p:spPr>
          <a:xfrm>
            <a:off x="594651" y="638192"/>
            <a:ext cx="8305922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b="1" dirty="0">
                <a:solidFill>
                  <a:srgbClr val="202945"/>
                </a:solidFill>
              </a:rPr>
              <a:t>CONTABILIDADE DIGITAL</a:t>
            </a:r>
            <a:br>
              <a:rPr lang="pt-PT" dirty="0">
                <a:solidFill>
                  <a:srgbClr val="202945"/>
                </a:solidFill>
              </a:rPr>
            </a:br>
            <a:r>
              <a:rPr lang="pt-PT" sz="2500" i="1" dirty="0">
                <a:solidFill>
                  <a:srgbClr val="202945"/>
                </a:solidFill>
              </a:rPr>
              <a:t>Evolução inteligente, rápida e económica da sua contabilidade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68142A-B17C-247E-704D-536E0B6DDA29}"/>
              </a:ext>
            </a:extLst>
          </p:cNvPr>
          <p:cNvSpPr txBox="1"/>
          <p:nvPr/>
        </p:nvSpPr>
        <p:spPr>
          <a:xfrm>
            <a:off x="890976" y="2063070"/>
            <a:ext cx="7965857" cy="358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Registos contabilísticos automáticos com base em documentos digitais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Eliminação de tarefas administrativas e redução de erro humano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Arquivo digital automatizado: organiza, numera e arquiva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Ligação direta ao E-Fatura com conferência automática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Pesquisas rápidas e acesso imediato a documentos via </a:t>
            </a:r>
            <a:r>
              <a:rPr lang="pt-PT" sz="1700" dirty="0" err="1">
                <a:solidFill>
                  <a:srgbClr val="202945"/>
                </a:solidFill>
              </a:rPr>
              <a:t>Client</a:t>
            </a:r>
            <a:r>
              <a:rPr lang="pt-PT" sz="1700" dirty="0">
                <a:solidFill>
                  <a:srgbClr val="202945"/>
                </a:solidFill>
              </a:rPr>
              <a:t> </a:t>
            </a:r>
            <a:r>
              <a:rPr lang="pt-PT" sz="1700" dirty="0" err="1">
                <a:solidFill>
                  <a:srgbClr val="202945"/>
                </a:solidFill>
              </a:rPr>
              <a:t>Connect</a:t>
            </a:r>
            <a:endParaRPr lang="pt-PT" sz="1700" dirty="0">
              <a:solidFill>
                <a:srgbClr val="202945"/>
              </a:solidFill>
            </a:endParaRP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Cumprimento garantido da legislação de arquivo digital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Melhoria da comunicação com o cliente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Compatível com </a:t>
            </a:r>
            <a:r>
              <a:rPr lang="pt-PT" sz="1700" dirty="0" err="1">
                <a:solidFill>
                  <a:srgbClr val="202945"/>
                </a:solidFill>
              </a:rPr>
              <a:t>banking</a:t>
            </a:r>
            <a:r>
              <a:rPr lang="pt-PT" sz="1700" dirty="0">
                <a:solidFill>
                  <a:srgbClr val="202945"/>
                </a:solidFill>
              </a:rPr>
              <a:t> </a:t>
            </a:r>
            <a:r>
              <a:rPr lang="pt-PT" sz="1700" dirty="0" err="1">
                <a:solidFill>
                  <a:srgbClr val="202945"/>
                </a:solidFill>
              </a:rPr>
              <a:t>automation</a:t>
            </a:r>
            <a:endParaRPr lang="pt-PT" sz="1700" dirty="0">
              <a:solidFill>
                <a:srgbClr val="202945"/>
              </a:solidFill>
            </a:endParaRP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Redução de custos físicos e impacto ambiental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33B4031-9A55-C0A6-FBBA-F8D55D82D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77" y="6039642"/>
            <a:ext cx="628738" cy="52394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84CC81-E199-411E-61FD-87317408BFB2}"/>
              </a:ext>
            </a:extLst>
          </p:cNvPr>
          <p:cNvSpPr txBox="1"/>
          <p:nvPr/>
        </p:nvSpPr>
        <p:spPr>
          <a:xfrm>
            <a:off x="9129770" y="3853977"/>
            <a:ext cx="2445105" cy="1028462"/>
          </a:xfrm>
          <a:prstGeom prst="snip2DiagRect">
            <a:avLst/>
          </a:prstGeom>
          <a:solidFill>
            <a:srgbClr val="202945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2500" b="1" dirty="0">
                <a:solidFill>
                  <a:schemeClr val="bg1"/>
                </a:solidFill>
              </a:rPr>
              <a:t>Apenas por</a:t>
            </a:r>
          </a:p>
          <a:p>
            <a:pPr algn="ctr"/>
            <a:r>
              <a:rPr lang="pt-PT" sz="2500" b="1" dirty="0">
                <a:solidFill>
                  <a:schemeClr val="bg1"/>
                </a:solidFill>
              </a:rPr>
              <a:t>{{PRECO}}</a:t>
            </a:r>
          </a:p>
        </p:txBody>
      </p:sp>
      <p:pic>
        <p:nvPicPr>
          <p:cNvPr id="13" name="Imagem 12" descr="Uma imagem com texto, Tipo de letra, Gráficos, logótipo&#10;&#10;Os conteúdos gerados por IA podem estar incorretos.">
            <a:extLst>
              <a:ext uri="{FF2B5EF4-FFF2-40B4-BE49-F238E27FC236}">
                <a16:creationId xmlns:a16="http://schemas.microsoft.com/office/drawing/2014/main" id="{EBBBD804-F12C-6DAB-7E1E-323E7C98B9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770" y="561544"/>
            <a:ext cx="2445105" cy="185303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B6B78BF-93A1-E299-73D4-E8ED656569F2}"/>
              </a:ext>
            </a:extLst>
          </p:cNvPr>
          <p:cNvSpPr txBox="1"/>
          <p:nvPr/>
        </p:nvSpPr>
        <p:spPr>
          <a:xfrm>
            <a:off x="1604700" y="6039642"/>
            <a:ext cx="20555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u="sng" dirty="0">
                <a:solidFill>
                  <a:srgbClr val="202945"/>
                </a:solidFill>
              </a:rPr>
              <a:t>Solução com </a:t>
            </a:r>
          </a:p>
          <a:p>
            <a:r>
              <a:rPr lang="pt-PT" sz="1500" u="sng" dirty="0">
                <a:solidFill>
                  <a:srgbClr val="202945"/>
                </a:solidFill>
              </a:rPr>
              <a:t>Inteligência Artificial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13F930B-840C-AB67-C01D-29C882B1057B}"/>
              </a:ext>
            </a:extLst>
          </p:cNvPr>
          <p:cNvSpPr txBox="1"/>
          <p:nvPr/>
        </p:nvSpPr>
        <p:spPr>
          <a:xfrm>
            <a:off x="5419147" y="6034553"/>
            <a:ext cx="24623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u="sng" dirty="0">
                <a:solidFill>
                  <a:srgbClr val="202945"/>
                </a:solidFill>
              </a:rPr>
              <a:t>Sem limites de</a:t>
            </a:r>
          </a:p>
          <a:p>
            <a:r>
              <a:rPr lang="pt-PT" sz="1500" u="sng" dirty="0">
                <a:solidFill>
                  <a:srgbClr val="202945"/>
                </a:solidFill>
              </a:rPr>
              <a:t>espaço de arquivo digital</a:t>
            </a:r>
          </a:p>
        </p:txBody>
      </p:sp>
    </p:spTree>
    <p:extLst>
      <p:ext uri="{BB962C8B-B14F-4D97-AF65-F5344CB8AC3E}">
        <p14:creationId xmlns:p14="http://schemas.microsoft.com/office/powerpoint/2010/main" val="398743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488C-AEAF-F35B-109C-9EE3547C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23E90AFF-D3A2-2368-94FC-09E6C02ED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6EA9A2-1311-43E6-A080-D73349CC0A10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254143-CBD5-82DF-AC23-0FB2E176495A}"/>
              </a:ext>
            </a:extLst>
          </p:cNvPr>
          <p:cNvSpPr txBox="1"/>
          <p:nvPr/>
        </p:nvSpPr>
        <p:spPr>
          <a:xfrm>
            <a:off x="594651" y="638192"/>
            <a:ext cx="8305922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b="1" dirty="0" err="1">
                <a:solidFill>
                  <a:srgbClr val="202945"/>
                </a:solidFill>
              </a:rPr>
              <a:t>Banking</a:t>
            </a:r>
            <a:r>
              <a:rPr lang="pt-PT" sz="6000" b="1" dirty="0">
                <a:solidFill>
                  <a:srgbClr val="202945"/>
                </a:solidFill>
              </a:rPr>
              <a:t> </a:t>
            </a:r>
            <a:r>
              <a:rPr lang="pt-PT" sz="6000" b="1" dirty="0" err="1">
                <a:solidFill>
                  <a:srgbClr val="202945"/>
                </a:solidFill>
              </a:rPr>
              <a:t>Automation</a:t>
            </a:r>
            <a:br>
              <a:rPr lang="pt-PT" dirty="0">
                <a:solidFill>
                  <a:srgbClr val="202945"/>
                </a:solidFill>
              </a:rPr>
            </a:br>
            <a:r>
              <a:rPr lang="pt-PT" sz="2500" i="1" dirty="0">
                <a:solidFill>
                  <a:srgbClr val="202945"/>
                </a:solidFill>
              </a:rPr>
              <a:t>Evolução inteligente, rápida e económica da sua contabilidade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281D40-293F-1392-7D72-FA431FE068C3}"/>
              </a:ext>
            </a:extLst>
          </p:cNvPr>
          <p:cNvSpPr txBox="1"/>
          <p:nvPr/>
        </p:nvSpPr>
        <p:spPr>
          <a:xfrm>
            <a:off x="890976" y="2330488"/>
            <a:ext cx="7965857" cy="2012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Mais valias da utilização da solução </a:t>
            </a:r>
            <a:r>
              <a:rPr lang="pt-PT" sz="1700" b="1" dirty="0" err="1">
                <a:solidFill>
                  <a:srgbClr val="202945"/>
                </a:solidFill>
              </a:rPr>
              <a:t>Banking</a:t>
            </a:r>
            <a:r>
              <a:rPr lang="pt-PT" sz="1700" b="1" dirty="0">
                <a:solidFill>
                  <a:srgbClr val="202945"/>
                </a:solidFill>
              </a:rPr>
              <a:t> </a:t>
            </a:r>
            <a:r>
              <a:rPr lang="pt-PT" sz="1700" b="1" dirty="0" err="1">
                <a:solidFill>
                  <a:srgbClr val="202945"/>
                </a:solidFill>
              </a:rPr>
              <a:t>Automation</a:t>
            </a:r>
            <a:r>
              <a:rPr lang="pt-PT" sz="1700" b="1" dirty="0">
                <a:solidFill>
                  <a:srgbClr val="202945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Integração automática dos movimentos bancários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Lançamentos contabilísticos automatizados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Conciliação bancária em poucos cliques</a:t>
            </a:r>
          </a:p>
          <a:p>
            <a:pPr>
              <a:lnSpc>
                <a:spcPct val="150000"/>
              </a:lnSpc>
            </a:pPr>
            <a:r>
              <a:rPr lang="pt-PT" sz="1700" b="1" dirty="0">
                <a:solidFill>
                  <a:srgbClr val="202945"/>
                </a:solidFill>
              </a:rPr>
              <a:t>✓</a:t>
            </a:r>
            <a:r>
              <a:rPr lang="pt-PT" sz="1700" dirty="0">
                <a:solidFill>
                  <a:srgbClr val="202945"/>
                </a:solidFill>
              </a:rPr>
              <a:t>   Mais tempo para se focar no que realmente importa: O crescimento do seu negócio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FE57FF-69E6-84E5-0A8C-BB4D20F19374}"/>
              </a:ext>
            </a:extLst>
          </p:cNvPr>
          <p:cNvSpPr txBox="1"/>
          <p:nvPr/>
        </p:nvSpPr>
        <p:spPr>
          <a:xfrm>
            <a:off x="6727795" y="4940192"/>
            <a:ext cx="2445105" cy="1028462"/>
          </a:xfrm>
          <a:prstGeom prst="snip2DiagRect">
            <a:avLst/>
          </a:prstGeom>
          <a:solidFill>
            <a:srgbClr val="202945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2500" b="1" dirty="0">
                <a:solidFill>
                  <a:schemeClr val="bg1"/>
                </a:solidFill>
              </a:rPr>
              <a:t>Apenas por</a:t>
            </a:r>
          </a:p>
          <a:p>
            <a:pPr algn="ctr"/>
            <a:r>
              <a:rPr lang="pt-PT" sz="2500" b="1" dirty="0">
                <a:solidFill>
                  <a:schemeClr val="bg1"/>
                </a:solidFill>
              </a:rPr>
              <a:t>{{PRECO}}</a:t>
            </a:r>
          </a:p>
        </p:txBody>
      </p:sp>
      <p:pic>
        <p:nvPicPr>
          <p:cNvPr id="13" name="Imagem 12" descr="Uma imagem com texto, Tipo de letra, Gráficos, logótipo&#10;&#10;Os conteúdos gerados por IA podem estar incorretos.">
            <a:extLst>
              <a:ext uri="{FF2B5EF4-FFF2-40B4-BE49-F238E27FC236}">
                <a16:creationId xmlns:a16="http://schemas.microsoft.com/office/drawing/2014/main" id="{476DDCF2-5CC7-5BD7-B307-68A9C2BFD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770" y="561544"/>
            <a:ext cx="2445105" cy="1853033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14D5DE15-3CF4-72FD-3C6F-15A3B3594261}"/>
              </a:ext>
            </a:extLst>
          </p:cNvPr>
          <p:cNvGrpSpPr/>
          <p:nvPr/>
        </p:nvGrpSpPr>
        <p:grpSpPr>
          <a:xfrm>
            <a:off x="2519371" y="4481953"/>
            <a:ext cx="2570190" cy="1901749"/>
            <a:chOff x="2519371" y="4318059"/>
            <a:chExt cx="2570190" cy="190174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AEB9FFB3-556B-F93F-C0B4-71C3C60AF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4455" y="4318059"/>
              <a:ext cx="2445106" cy="1901749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38A51F79-705D-2373-9EBA-8EFE1F3911E8}"/>
                </a:ext>
              </a:extLst>
            </p:cNvPr>
            <p:cNvSpPr/>
            <p:nvPr/>
          </p:nvSpPr>
          <p:spPr>
            <a:xfrm>
              <a:off x="2519371" y="4634555"/>
              <a:ext cx="284672" cy="4426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140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02A29-E8A9-774A-B676-C43ED14CE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/>
          <a:lstStyle/>
          <a:p>
            <a:fld id="{3C6EA9A2-1311-43E6-A080-D73349CC0A10}" type="slidenum">
              <a:rPr lang="pt-PT" smtClean="0"/>
              <a:pPr/>
              <a:t>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77764757"/>
      </p:ext>
    </p:extLst>
  </p:cSld>
  <p:clrMapOvr>
    <a:masterClrMapping/>
  </p:clrMapOvr>
</p:sld>
</file>

<file path=ppt/theme/theme1.xml><?xml version="1.0" encoding="utf-8"?>
<a:theme xmlns:a="http://schemas.openxmlformats.org/drawingml/2006/main" name="Modelo de apresentaçã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upo Your 2018">
      <a:majorFont>
        <a:latin typeface="Campton"/>
        <a:ea typeface=""/>
        <a:cs typeface=""/>
      </a:majorFont>
      <a:minorFont>
        <a:latin typeface="Campton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B44E13B8E7B149B5E48359FCCF200E" ma:contentTypeVersion="13" ma:contentTypeDescription="Criar um novo documento." ma:contentTypeScope="" ma:versionID="ba8df822edba5989c4bb49f8a60e8d35">
  <xsd:schema xmlns:xsd="http://www.w3.org/2001/XMLSchema" xmlns:xs="http://www.w3.org/2001/XMLSchema" xmlns:p="http://schemas.microsoft.com/office/2006/metadata/properties" xmlns:ns2="3ad7500d-99b5-4a15-baa6-3b6186268146" xmlns:ns3="adb2fc8b-66da-4b5d-8ed1-73de12a5964f" targetNamespace="http://schemas.microsoft.com/office/2006/metadata/properties" ma:root="true" ma:fieldsID="b5acc2aca935612e333af2541b8f6cb0" ns2:_="" ns3:_="">
    <xsd:import namespace="3ad7500d-99b5-4a15-baa6-3b6186268146"/>
    <xsd:import namespace="adb2fc8b-66da-4b5d-8ed1-73de12a596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7500d-99b5-4a15-baa6-3b61862681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074097a-f8e6-4434-ba73-e7b735e5d1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2fc8b-66da-4b5d-8ed1-73de12a5964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c97a71d-a0d5-453a-aa54-851c8f1717d1}" ma:internalName="TaxCatchAll" ma:showField="CatchAllData" ma:web="adb2fc8b-66da-4b5d-8ed1-73de12a596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d7500d-99b5-4a15-baa6-3b6186268146">
      <Terms xmlns="http://schemas.microsoft.com/office/infopath/2007/PartnerControls"/>
    </lcf76f155ced4ddcb4097134ff3c332f>
    <TaxCatchAll xmlns="adb2fc8b-66da-4b5d-8ed1-73de12a5964f" xsi:nil="true"/>
  </documentManagement>
</p:properties>
</file>

<file path=customXml/itemProps1.xml><?xml version="1.0" encoding="utf-8"?>
<ds:datastoreItem xmlns:ds="http://schemas.openxmlformats.org/officeDocument/2006/customXml" ds:itemID="{FD5138D6-BBD5-4939-BB90-B33A3DCC26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d7500d-99b5-4a15-baa6-3b6186268146"/>
    <ds:schemaRef ds:uri="adb2fc8b-66da-4b5d-8ed1-73de12a59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A5BB8E-F718-483E-A404-4ABC38A64E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5E929A-3523-41E1-811C-02A6B933165B}">
  <ds:schemaRefs>
    <ds:schemaRef ds:uri="http://purl.org/dc/terms/"/>
    <ds:schemaRef ds:uri="http://purl.org/dc/dcmitype/"/>
    <ds:schemaRef ds:uri="3ad7500d-99b5-4a15-baa6-3b6186268146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adb2fc8b-66da-4b5d-8ed1-73de12a5964f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23135</TotalTime>
  <Words>847</Words>
  <Application>Microsoft Office PowerPoint</Application>
  <PresentationFormat>Personalizados</PresentationFormat>
  <Paragraphs>111</Paragraphs>
  <Slides>8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6" baseType="lpstr">
      <vt:lpstr>Arial</vt:lpstr>
      <vt:lpstr>Bahnschrift</vt:lpstr>
      <vt:lpstr>Calibri</vt:lpstr>
      <vt:lpstr>Campton</vt:lpstr>
      <vt:lpstr>Campton Light</vt:lpstr>
      <vt:lpstr>Campton Med</vt:lpstr>
      <vt:lpstr>Campton SemBd</vt:lpstr>
      <vt:lpstr>Modelo de apresentação personalizado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Margarida Xavier de Basto</dc:creator>
  <cp:lastModifiedBy>Ruben Cruz</cp:lastModifiedBy>
  <cp:revision>193</cp:revision>
  <cp:lastPrinted>2024-07-29T22:17:18Z</cp:lastPrinted>
  <dcterms:created xsi:type="dcterms:W3CDTF">2018-02-26T15:34:58Z</dcterms:created>
  <dcterms:modified xsi:type="dcterms:W3CDTF">2026-09-22T16:28:30Z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0x0101003DB44E13B8E7B149B5E48359FCCF200E</vt:lpwstr>
  </property>
  <property fmtid="{D5CDD505-2E9C-101B-9397-08002B2CF9AE}" pid="3" name="MediaServiceImageTags">
    <vt:lpwstr/>
  </property>
</Properties>
</file>